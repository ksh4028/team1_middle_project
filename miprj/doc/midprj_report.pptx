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9906000"/>
  <p:notesSz cx="6797675" cy="9926625"/>
  <p:embeddedFontLst>
    <p:embeddedFont>
      <p:font typeface="Carme"/>
      <p:regular r:id="rId21"/>
    </p:embeddedFont>
    <p:embeddedFont>
      <p:font typeface="Arim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12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E42A6E-D9D0-42C0-9BBE-281496660CEC}">
  <a:tblStyle styleId="{E9E42A6E-D9D0-42C0-9BBE-281496660CE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C64820F-792A-40B2-B8F5-73BCD3C2C72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Arimo-regular.fntdata"/><Relationship Id="rId21" Type="http://schemas.openxmlformats.org/officeDocument/2006/relationships/font" Target="fonts/Carme-regular.fntdata"/><Relationship Id="rId24" Type="http://schemas.openxmlformats.org/officeDocument/2006/relationships/font" Target="fonts/Arimo-italic.fntdata"/><Relationship Id="rId23" Type="http://schemas.openxmlformats.org/officeDocument/2006/relationships/font" Target="fonts/Arim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Arim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1200" y="744538"/>
            <a:ext cx="537686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/>
          <p:nvPr>
            <p:ph idx="2" type="sldImg"/>
          </p:nvPr>
        </p:nvSpPr>
        <p:spPr>
          <a:xfrm>
            <a:off x="711200" y="744538"/>
            <a:ext cx="537686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711200" y="744538"/>
            <a:ext cx="537686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711200" y="744538"/>
            <a:ext cx="537686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a3be7a0b6_0_13:notes"/>
          <p:cNvSpPr/>
          <p:nvPr>
            <p:ph idx="2" type="sldImg"/>
          </p:nvPr>
        </p:nvSpPr>
        <p:spPr>
          <a:xfrm>
            <a:off x="711200" y="744538"/>
            <a:ext cx="53769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g3ca3be7a0b6_0_13:notes"/>
          <p:cNvSpPr txBox="1"/>
          <p:nvPr>
            <p:ph idx="1" type="body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ca3be7a0b6_0_13:notes"/>
          <p:cNvSpPr txBox="1"/>
          <p:nvPr>
            <p:ph idx="12" type="sldNum"/>
          </p:nvPr>
        </p:nvSpPr>
        <p:spPr>
          <a:xfrm>
            <a:off x="3849688" y="9428163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a41ec281e_0_469:notes"/>
          <p:cNvSpPr/>
          <p:nvPr>
            <p:ph idx="2" type="sldImg"/>
          </p:nvPr>
        </p:nvSpPr>
        <p:spPr>
          <a:xfrm>
            <a:off x="711200" y="744538"/>
            <a:ext cx="53769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a41ec281e_0_469:notes"/>
          <p:cNvSpPr txBox="1"/>
          <p:nvPr>
            <p:ph idx="1" type="body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a41ec281e_0_469:notes"/>
          <p:cNvSpPr txBox="1"/>
          <p:nvPr>
            <p:ph idx="12" type="sldNum"/>
          </p:nvPr>
        </p:nvSpPr>
        <p:spPr>
          <a:xfrm>
            <a:off x="3849688" y="9428163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a41ec281e_0_114:notes"/>
          <p:cNvSpPr/>
          <p:nvPr>
            <p:ph idx="2" type="sldImg"/>
          </p:nvPr>
        </p:nvSpPr>
        <p:spPr>
          <a:xfrm>
            <a:off x="711200" y="744538"/>
            <a:ext cx="53769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g3ca41ec281e_0_114:notes"/>
          <p:cNvSpPr txBox="1"/>
          <p:nvPr>
            <p:ph idx="1" type="body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ca41ec281e_0_114:notes"/>
          <p:cNvSpPr txBox="1"/>
          <p:nvPr>
            <p:ph idx="12" type="sldNum"/>
          </p:nvPr>
        </p:nvSpPr>
        <p:spPr>
          <a:xfrm>
            <a:off x="3849688" y="9428163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a41ec281e_0_168:notes"/>
          <p:cNvSpPr/>
          <p:nvPr>
            <p:ph idx="2" type="sldImg"/>
          </p:nvPr>
        </p:nvSpPr>
        <p:spPr>
          <a:xfrm>
            <a:off x="711200" y="744538"/>
            <a:ext cx="53769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g3ca41ec281e_0_168:notes"/>
          <p:cNvSpPr txBox="1"/>
          <p:nvPr>
            <p:ph idx="1" type="body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ca41ec281e_0_168:notes"/>
          <p:cNvSpPr txBox="1"/>
          <p:nvPr>
            <p:ph idx="12" type="sldNum"/>
          </p:nvPr>
        </p:nvSpPr>
        <p:spPr>
          <a:xfrm>
            <a:off x="3849688" y="9428163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a41ec281e_0_198:notes"/>
          <p:cNvSpPr/>
          <p:nvPr>
            <p:ph idx="2" type="sldImg"/>
          </p:nvPr>
        </p:nvSpPr>
        <p:spPr>
          <a:xfrm>
            <a:off x="711200" y="744538"/>
            <a:ext cx="53769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g3ca41ec281e_0_198:notes"/>
          <p:cNvSpPr txBox="1"/>
          <p:nvPr>
            <p:ph idx="1" type="body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ca41ec281e_0_198:notes"/>
          <p:cNvSpPr txBox="1"/>
          <p:nvPr>
            <p:ph idx="12" type="sldNum"/>
          </p:nvPr>
        </p:nvSpPr>
        <p:spPr>
          <a:xfrm>
            <a:off x="3849688" y="9428163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a41ec281e_0_217:notes"/>
          <p:cNvSpPr/>
          <p:nvPr>
            <p:ph idx="2" type="sldImg"/>
          </p:nvPr>
        </p:nvSpPr>
        <p:spPr>
          <a:xfrm>
            <a:off x="711200" y="744538"/>
            <a:ext cx="53769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g3ca41ec281e_0_217:notes"/>
          <p:cNvSpPr txBox="1"/>
          <p:nvPr>
            <p:ph idx="1" type="body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ca41ec281e_0_217:notes"/>
          <p:cNvSpPr txBox="1"/>
          <p:nvPr>
            <p:ph idx="12" type="sldNum"/>
          </p:nvPr>
        </p:nvSpPr>
        <p:spPr>
          <a:xfrm>
            <a:off x="3849688" y="9428163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4269f49_0_0:notes"/>
          <p:cNvSpPr/>
          <p:nvPr>
            <p:ph idx="2" type="sldImg"/>
          </p:nvPr>
        </p:nvSpPr>
        <p:spPr>
          <a:xfrm>
            <a:off x="711200" y="744538"/>
            <a:ext cx="53769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g3c074269f49_0_0:notes"/>
          <p:cNvSpPr txBox="1"/>
          <p:nvPr>
            <p:ph idx="1" type="body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c074269f49_0_0:notes"/>
          <p:cNvSpPr txBox="1"/>
          <p:nvPr>
            <p:ph idx="12" type="sldNum"/>
          </p:nvPr>
        </p:nvSpPr>
        <p:spPr>
          <a:xfrm>
            <a:off x="3849688" y="9428163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074269f49_0_8:notes"/>
          <p:cNvSpPr/>
          <p:nvPr>
            <p:ph idx="2" type="sldImg"/>
          </p:nvPr>
        </p:nvSpPr>
        <p:spPr>
          <a:xfrm>
            <a:off x="711200" y="744538"/>
            <a:ext cx="53769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c074269f49_0_8:notes"/>
          <p:cNvSpPr txBox="1"/>
          <p:nvPr>
            <p:ph idx="1" type="body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c074269f49_0_8:notes"/>
          <p:cNvSpPr txBox="1"/>
          <p:nvPr>
            <p:ph idx="12" type="sldNum"/>
          </p:nvPr>
        </p:nvSpPr>
        <p:spPr>
          <a:xfrm>
            <a:off x="3849688" y="9428163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074269f49_0_13:notes"/>
          <p:cNvSpPr/>
          <p:nvPr>
            <p:ph idx="2" type="sldImg"/>
          </p:nvPr>
        </p:nvSpPr>
        <p:spPr>
          <a:xfrm>
            <a:off x="711200" y="744538"/>
            <a:ext cx="53769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g3c074269f49_0_13:notes"/>
          <p:cNvSpPr txBox="1"/>
          <p:nvPr>
            <p:ph idx="1" type="body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c074269f49_0_13:notes"/>
          <p:cNvSpPr txBox="1"/>
          <p:nvPr>
            <p:ph idx="12" type="sldNum"/>
          </p:nvPr>
        </p:nvSpPr>
        <p:spPr>
          <a:xfrm>
            <a:off x="3849688" y="9428163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a41ec281e_0_341:notes"/>
          <p:cNvSpPr/>
          <p:nvPr>
            <p:ph idx="2" type="sldImg"/>
          </p:nvPr>
        </p:nvSpPr>
        <p:spPr>
          <a:xfrm>
            <a:off x="711200" y="744538"/>
            <a:ext cx="53769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g3ca41ec281e_0_341:notes"/>
          <p:cNvSpPr txBox="1"/>
          <p:nvPr>
            <p:ph idx="1" type="body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ca41ec281e_0_341:notes"/>
          <p:cNvSpPr txBox="1"/>
          <p:nvPr>
            <p:ph idx="12" type="sldNum"/>
          </p:nvPr>
        </p:nvSpPr>
        <p:spPr>
          <a:xfrm>
            <a:off x="3849688" y="9428163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a41ec281e_0_349:notes"/>
          <p:cNvSpPr/>
          <p:nvPr>
            <p:ph idx="2" type="sldImg"/>
          </p:nvPr>
        </p:nvSpPr>
        <p:spPr>
          <a:xfrm>
            <a:off x="711200" y="744538"/>
            <a:ext cx="53769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g3ca41ec281e_0_349:notes"/>
          <p:cNvSpPr txBox="1"/>
          <p:nvPr>
            <p:ph idx="1" type="body"/>
          </p:nvPr>
        </p:nvSpPr>
        <p:spPr>
          <a:xfrm>
            <a:off x="679450" y="471487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ca41ec281e_0_349:notes"/>
          <p:cNvSpPr txBox="1"/>
          <p:nvPr>
            <p:ph idx="12" type="sldNum"/>
          </p:nvPr>
        </p:nvSpPr>
        <p:spPr>
          <a:xfrm>
            <a:off x="3849688" y="9428163"/>
            <a:ext cx="2946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rme"/>
              <a:buNone/>
              <a:defRPr b="0" i="0" sz="3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1pPr>
            <a:lvl2pPr lvl="1" marR="0" rtl="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rme"/>
              <a:buNone/>
              <a:defRPr b="0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lvl="2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rme"/>
              <a:buNone/>
              <a:defRPr b="0" i="0" sz="1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lvl="3" marR="0" rtl="0" algn="ct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lvl="4" marR="0" rtl="0" algn="ct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lvl="5" marR="0" rtl="0" algn="ct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lvl="6" marR="0" rtl="0" algn="ct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lvl="7" marR="0" rtl="0" algn="ct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lvl="8" marR="0" rtl="0" algn="ct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showMasterSp="0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그림1" id="21" name="Google Shape;2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/>
        </p:nvSpPr>
        <p:spPr>
          <a:xfrm>
            <a:off x="4865688" y="6497638"/>
            <a:ext cx="300037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"/>
          <p:cNvSpPr txBox="1"/>
          <p:nvPr/>
        </p:nvSpPr>
        <p:spPr>
          <a:xfrm>
            <a:off x="7594600" y="6565900"/>
            <a:ext cx="2038350" cy="15398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5F"/>
                </a:solidFill>
                <a:latin typeface="Arimo"/>
                <a:ea typeface="Arimo"/>
                <a:cs typeface="Arimo"/>
                <a:sym typeface="Arimo"/>
              </a:rPr>
              <a:t>© Copyright toBiz Corporation 2009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로고_투비즈테크_길게" id="24" name="Google Shape;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25" y="6524625"/>
            <a:ext cx="1171575" cy="217488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/>
          <p:nvPr/>
        </p:nvSpPr>
        <p:spPr>
          <a:xfrm>
            <a:off x="7381875" y="714375"/>
            <a:ext cx="2000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rPr>
              <a:t>소제목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rme"/>
              <a:buNone/>
              <a:defRPr b="0" i="0" sz="2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rme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rme"/>
              <a:buNone/>
              <a:defRPr b="0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rme"/>
              <a:buNone/>
              <a:defRPr b="0" i="0" sz="1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rme"/>
              <a:buNone/>
              <a:defRPr b="0" i="0" sz="1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rme"/>
              <a:buNone/>
              <a:defRPr b="0" i="0" sz="1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rme"/>
              <a:buNone/>
              <a:defRPr b="0" i="0" sz="1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rme"/>
              <a:buNone/>
              <a:defRPr b="0" i="0" sz="1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rme"/>
              <a:buNone/>
              <a:defRPr b="0" i="0" sz="1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rme"/>
              <a:buNone/>
              <a:defRPr b="1" i="0" sz="2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rme"/>
              <a:buNone/>
              <a:defRPr b="1" i="0" sz="2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rme"/>
              <a:buNone/>
              <a:defRPr b="1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rme"/>
              <a:buNone/>
              <a:defRPr b="1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rme"/>
              <a:buNone/>
              <a:defRPr b="1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rme"/>
              <a:buNone/>
              <a:defRPr b="1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rme"/>
              <a:buNone/>
              <a:defRPr b="1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rme"/>
              <a:buNone/>
              <a:defRPr b="1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rme"/>
              <a:buNone/>
              <a:defRPr b="1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2" type="body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3" type="body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rme"/>
              <a:buNone/>
              <a:defRPr b="1" i="0" sz="2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rme"/>
              <a:buNone/>
              <a:defRPr b="1" i="0" sz="2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rme"/>
              <a:buNone/>
              <a:defRPr b="1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rme"/>
              <a:buNone/>
              <a:defRPr b="1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rme"/>
              <a:buNone/>
              <a:defRPr b="1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rme"/>
              <a:buNone/>
              <a:defRPr b="1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rme"/>
              <a:buNone/>
              <a:defRPr b="1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rme"/>
              <a:buNone/>
              <a:defRPr b="1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rme"/>
              <a:buNone/>
              <a:defRPr b="1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4" type="body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rme"/>
              <a:buNone/>
              <a:defRPr b="0" i="0" sz="1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rme"/>
              <a:buNone/>
              <a:defRPr b="0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rme"/>
              <a:buNone/>
              <a:defRPr b="0" i="0" sz="1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45" name="Google Shape;45;p10"/>
          <p:cNvSpPr/>
          <p:nvPr>
            <p:ph idx="2" type="pic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rme"/>
              <a:buNone/>
              <a:defRPr b="0" i="0" sz="1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rme"/>
              <a:buNone/>
              <a:defRPr b="0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rme"/>
              <a:buNone/>
              <a:defRPr b="0" i="0" sz="1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rme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 rot="5400000">
            <a:off x="2690018" y="-594519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 rot="5400000">
            <a:off x="5370512" y="2085975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 rot="5400000">
            <a:off x="836612" y="-66675"/>
            <a:ext cx="5851525" cy="653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rme"/>
                <a:ea typeface="Carme"/>
                <a:cs typeface="Carme"/>
                <a:sym typeface="Carme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4865688" y="6554788"/>
            <a:ext cx="149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11875" y="0"/>
            <a:ext cx="9894125" cy="642942"/>
          </a:xfrm>
          <a:prstGeom prst="rect">
            <a:avLst/>
          </a:prstGeom>
          <a:solidFill>
            <a:srgbClr val="7373D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11" Type="http://schemas.openxmlformats.org/officeDocument/2006/relationships/image" Target="../media/image13.png"/><Relationship Id="rId10" Type="http://schemas.openxmlformats.org/officeDocument/2006/relationships/image" Target="../media/image14.png"/><Relationship Id="rId9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midprj.duckdsn.org:11434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/>
          <p:nvPr/>
        </p:nvSpPr>
        <p:spPr>
          <a:xfrm>
            <a:off x="0" y="5929313"/>
            <a:ext cx="9906000" cy="9429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8" y="0"/>
            <a:ext cx="9904412" cy="443706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0" y="4500563"/>
            <a:ext cx="9906000" cy="76993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chemeClr val="lt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RFP 분석을 위한 지능형 RAG시스템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082800" y="5695950"/>
            <a:ext cx="573405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en-US" sz="2800">
                <a:solidFill>
                  <a:schemeClr val="dk1"/>
                </a:solidFill>
              </a:rPr>
              <a:t>26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</a:t>
            </a:r>
            <a:r>
              <a:rPr lang="en-US" sz="2800">
                <a:solidFill>
                  <a:schemeClr val="dk1"/>
                </a:solidFill>
              </a:rPr>
              <a:t>03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6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688975" y="433388"/>
            <a:ext cx="8502650" cy="792162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0E1525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rme"/>
                <a:ea typeface="Carme"/>
                <a:cs typeface="Carme"/>
                <a:sym typeface="Carme"/>
              </a:rPr>
              <a:t>INDEX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1406814" y="1425575"/>
            <a:ext cx="7099200" cy="7476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66FF"/>
              </a:gs>
              <a:gs pos="100000">
                <a:srgbClr val="002F76"/>
              </a:gs>
            </a:gsLst>
            <a:lin ang="5400000" scaled="0"/>
          </a:gradFill>
          <a:ln cap="flat" cmpd="sng" w="63500">
            <a:solidFill>
              <a:srgbClr val="CCE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  1. </a:t>
            </a:r>
            <a:r>
              <a:rPr b="1" lang="en-US" sz="2400">
                <a:solidFill>
                  <a:srgbClr val="FFFF00"/>
                </a:solidFill>
              </a:rPr>
              <a:t>개요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1406864" y="2434749"/>
            <a:ext cx="7099200" cy="74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66FF"/>
              </a:gs>
              <a:gs pos="100000">
                <a:srgbClr val="002F76"/>
              </a:gs>
            </a:gsLst>
            <a:lin ang="5400012" scaled="0"/>
          </a:gradFill>
          <a:ln cap="flat" cmpd="sng" w="63500">
            <a:solidFill>
              <a:srgbClr val="CCE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  2. </a:t>
            </a:r>
            <a:r>
              <a:rPr b="1" lang="en-US" sz="2400">
                <a:solidFill>
                  <a:srgbClr val="FFFF00"/>
                </a:solidFill>
              </a:rPr>
              <a:t>개발 전략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1406864" y="3442423"/>
            <a:ext cx="7099200" cy="7476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66FF"/>
              </a:gs>
              <a:gs pos="100000">
                <a:srgbClr val="002F76"/>
              </a:gs>
            </a:gsLst>
            <a:lin ang="5400012" scaled="0"/>
          </a:gradFill>
          <a:ln cap="flat" cmpd="sng" w="63500">
            <a:solidFill>
              <a:srgbClr val="CCE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  3. </a:t>
            </a:r>
            <a:r>
              <a:rPr b="1" lang="en-US" sz="2400">
                <a:solidFill>
                  <a:srgbClr val="FFFF00"/>
                </a:solidFill>
              </a:rPr>
              <a:t>개발 경과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1406864" y="4451596"/>
            <a:ext cx="7099200" cy="7476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66FF"/>
              </a:gs>
              <a:gs pos="100000">
                <a:srgbClr val="002F76"/>
              </a:gs>
            </a:gsLst>
            <a:lin ang="5400012" scaled="0"/>
          </a:gradFill>
          <a:ln cap="flat" cmpd="sng" w="63500">
            <a:solidFill>
              <a:srgbClr val="CCE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lang="en-US" sz="2400">
                <a:solidFill>
                  <a:srgbClr val="FFFF00"/>
                </a:solidFill>
              </a:rPr>
              <a:t>4</a:t>
            </a:r>
            <a:r>
              <a:rPr b="1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US" sz="2400">
                <a:solidFill>
                  <a:srgbClr val="FFFF00"/>
                </a:solidFill>
              </a:rPr>
              <a:t>구현 및 시연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1406864" y="5460770"/>
            <a:ext cx="7099200" cy="7476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66FF"/>
              </a:gs>
              <a:gs pos="100000">
                <a:srgbClr val="002F76"/>
              </a:gs>
            </a:gsLst>
            <a:lin ang="5400012" scaled="0"/>
          </a:gradFill>
          <a:ln cap="flat" cmpd="sng" w="63500">
            <a:solidFill>
              <a:srgbClr val="CCE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lang="en-US" sz="2400">
                <a:solidFill>
                  <a:srgbClr val="FFFF00"/>
                </a:solidFill>
              </a:rPr>
              <a:t>5</a:t>
            </a:r>
            <a:r>
              <a:rPr b="1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US" sz="2400">
                <a:solidFill>
                  <a:srgbClr val="FFFF00"/>
                </a:solidFill>
              </a:rPr>
              <a:t>회고 및 향후 과제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180975" y="0"/>
            <a:ext cx="891540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US" sz="2800">
                <a:solidFill>
                  <a:schemeClr val="lt1"/>
                </a:solidFill>
              </a:rPr>
              <a:t>개요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9" name="Google Shape;79;p15"/>
          <p:cNvGraphicFramePr/>
          <p:nvPr/>
        </p:nvGraphicFramePr>
        <p:xfrm>
          <a:off x="285750" y="71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{E9E42A6E-D9D0-42C0-9BBE-281496660CEC}</a:tableStyleId>
              </a:tblPr>
              <a:tblGrid>
                <a:gridCol w="9310700"/>
              </a:tblGrid>
              <a:tr h="29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1. 시스템</a:t>
                      </a:r>
                      <a:r>
                        <a:rPr b="1" i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목표</a:t>
                      </a:r>
                      <a:r>
                        <a:rPr b="1" i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 u="none" cap="none" strike="noStrike"/>
                    </a:p>
                  </a:txBody>
                  <a:tcPr marT="54000" marB="54000" marR="99050" marL="990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225">
                <a:tc>
                  <a:txBody>
                    <a:bodyPr/>
                    <a:lstStyle/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/>
                        <a:t>공공 기관 RFP 문서를 분석하여 사용자로 자연어로 질의시 문서를 분석하여 결과를 제공</a:t>
                      </a: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000" u="none" cap="none" strike="noStrike"/>
                    </a:p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/>
                        <a:t>기존의 Database를 기반으로 하는 경우 자연어 보다는 날짜, 예산, 키워드 매칭으로만 정형화된 질의만 응답만 제공되는 것을 넘어서는 서비스 제공.</a:t>
                      </a:r>
                      <a:endParaRPr sz="1000" u="none" cap="none" strike="noStrike"/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</a:t>
                      </a: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시스템 개발 환경</a:t>
                      </a:r>
                      <a:endParaRPr sz="1200" u="none" cap="none" strike="noStrike"/>
                    </a:p>
                  </a:txBody>
                  <a:tcPr marT="54000" marB="54000" marR="99050" marL="990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94800">
                <a:tc>
                  <a:txBody>
                    <a:bodyPr/>
                    <a:lstStyle/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2"/>
                          </a:solidFill>
                        </a:rPr>
                        <a:t>openai  서비스 : </a:t>
                      </a:r>
                      <a:r>
                        <a:rPr lang="en-US" sz="1000">
                          <a:solidFill>
                            <a:schemeClr val="dk2"/>
                          </a:solidFill>
                          <a:highlight>
                            <a:srgbClr val="FFFFFF"/>
                          </a:highlight>
                        </a:rPr>
                        <a:t>llm model:  gpt-5-mini, embedding model:  text-embedding-3-small 제공.(유료 인터넷 서비스)</a:t>
                      </a:r>
                      <a:endParaRPr sz="1000">
                        <a:solidFill>
                          <a:schemeClr val="dk2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Char char="✓"/>
                      </a:pPr>
                      <a:r>
                        <a:rPr lang="en-US" sz="1000"/>
                        <a:t>GCP제공 : </a:t>
                      </a:r>
                      <a:endParaRPr sz="1000"/>
                    </a:p>
                    <a:p>
                      <a:pPr indent="0" lvl="0" marL="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      ▪ region : iowa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      ▪ CPU : g2-standard (vCpu : 4, Memory : 16GB) x 1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      ▪ GPU : L4 x 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      ▪ Ollama 서비스 : 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llm model: exaone3.5:7.8b, embedding model: bge-m3 (설치 운영)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     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/>
                        <a:t>개발Tool : vscode/python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</a:t>
                      </a: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개발 및 시스템 구성 방안</a:t>
                      </a:r>
                      <a:endParaRPr sz="1200" u="none" cap="none" strike="noStrike"/>
                    </a:p>
                  </a:txBody>
                  <a:tcPr marT="54000" marB="54000" marR="99050" marL="990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8275">
                <a:tc>
                  <a:txBody>
                    <a:bodyPr/>
                    <a:lstStyle/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인터넷 서비스 사용 구성 방안 : 데이터 전처리/임베딩/응답을 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openai가 제공되는 서비스를 이용한다.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온프레스미 : ollama 서비스를 이용해서 임베딩/응답을 처리 한다.(GCP이용)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한글 파일 처리는 한글api를 이용한 pdf변환 이용. 한글파일을 pdf로 저장 후 분석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pdf의 표나 그림은 미리 openai로 미리 요약하여 txt파일로 저장 후 vector생성이 이용.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로컬 database를 이용, 질의 응답/평가 등에 이용.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 </a:t>
                      </a: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시스템의 특장점</a:t>
                      </a:r>
                      <a:endParaRPr sz="1200" u="none" cap="none" strike="noStrike"/>
                    </a:p>
                  </a:txBody>
                  <a:tcPr marT="54000" marB="54000" marR="99050" marL="990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2175">
                <a:tc>
                  <a:txBody>
                    <a:bodyPr/>
                    <a:lstStyle/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실무에서 바로 사용하는 것으로 구현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인터넷 서비스 사용과 클라우드 온프레스미 사용을 선택적으로 사용.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reranker/retriever등 모듈화된 구현으로 확장성  담보.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SQLite를 이용한 vector저장 및 메타정보 저장으로 질의/응답에 hybrid 로 응답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전처리로 domain/keyword등을 미리 분석.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180975" y="0"/>
            <a:ext cx="8915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2</a:t>
            </a: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2800">
                <a:solidFill>
                  <a:schemeClr val="lt1"/>
                </a:solidFill>
              </a:rPr>
              <a:t>개발 전략 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6" name="Google Shape;86;p16"/>
          <p:cNvGraphicFramePr/>
          <p:nvPr/>
        </p:nvGraphicFramePr>
        <p:xfrm>
          <a:off x="285750" y="71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{E9E42A6E-D9D0-42C0-9BBE-281496660CEC}</a:tableStyleId>
              </a:tblPr>
              <a:tblGrid>
                <a:gridCol w="9310700"/>
              </a:tblGrid>
              <a:tr h="21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1. </a:t>
                      </a: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전처리/database</a:t>
                      </a:r>
                      <a:endParaRPr sz="1200" u="none" cap="none" strike="noStrike"/>
                    </a:p>
                  </a:txBody>
                  <a:tcPr marT="54000" marB="54000" marR="99050" marL="990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hwp 파일의 pdf변경: 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Hancom Office API를 이용한 HWP-&gt;PDF변환</a:t>
                      </a:r>
                      <a:r>
                        <a:rPr i="0" lang="en-US" sz="1000" u="none" cap="none" strike="noStrike">
                          <a:solidFill>
                            <a:schemeClr val="dk1"/>
                          </a:solidFill>
                        </a:rPr>
                        <a:t>.(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같은 파일이름의 pdf로 변경)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/>
                        <a:t>pdf의 표와 그림을 요약하여 같은파일 이름의 txt로 저장.</a:t>
                      </a:r>
                      <a:endParaRPr sz="1000"/>
                    </a:p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✓"/>
                      </a:pPr>
                      <a:r>
                        <a:rPr lang="en-US" sz="1000"/>
                        <a:t>도메인/키워드 추출하여 DB 에 저장. 향후 질의 응답에 사용.</a:t>
                      </a:r>
                      <a:endParaRPr sz="1000"/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</a:t>
                      </a: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모델</a:t>
                      </a:r>
                      <a:endParaRPr sz="1200" u="none" cap="none" strike="noStrike"/>
                    </a:p>
                  </a:txBody>
                  <a:tcPr marT="54000" marB="54000" marR="99050" marL="990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0925">
                <a:tc>
                  <a:txBody>
                    <a:bodyPr/>
                    <a:lstStyle/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2"/>
                          </a:solidFill>
                        </a:rPr>
                        <a:t>openai/ollama/huggingface : 3</a:t>
                      </a:r>
                      <a:r>
                        <a:rPr lang="en-US" sz="1000">
                          <a:solidFill>
                            <a:schemeClr val="dk2"/>
                          </a:solidFill>
                        </a:rPr>
                        <a:t>가지를 모두 같은 형태로 서비스할 수 있도록 개발.(base model -&gt; 상속)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openai  : 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llm model:  gpt-5-mini, embedding model:  text-embedding-3-small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Ollama 서비스 : llm model: exaone3.5:7.8b, embedding model: bge-m3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hugging face : llm model :  nlpai-lab/KULLM3 , embedding model : nlpai-lab/KoE5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</a:t>
                      </a: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retriever</a:t>
                      </a:r>
                      <a:endParaRPr sz="1200" u="none" cap="none" strike="noStrike"/>
                    </a:p>
                  </a:txBody>
                  <a:tcPr marT="54000" marB="54000" marR="99050" marL="990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900">
                <a:tc>
                  <a:txBody>
                    <a:bodyPr/>
                    <a:lstStyle/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bm25, vector, hybrid, llm, bm25_llm, vector_llm, hybrid_llm 종류로 구현.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 </a:t>
                      </a: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reranker</a:t>
                      </a:r>
                      <a:endParaRPr sz="1200" u="none" cap="none" strike="noStrike"/>
                    </a:p>
                  </a:txBody>
                  <a:tcPr marT="54000" marB="54000" marR="99050" marL="990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4725">
                <a:tc>
                  <a:txBody>
                    <a:bodyPr/>
                    <a:lstStyle/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bge,dense,openapi,ollama,hybrid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 종류로 구현.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1958516" y="2770550"/>
            <a:ext cx="4046400" cy="318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6714084" y="1627639"/>
            <a:ext cx="1551900" cy="592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highlight>
                  <a:schemeClr val="lt1"/>
                </a:highlight>
              </a:rPr>
              <a:t>gpt-5-mini, </a:t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highlight>
                  <a:schemeClr val="lt1"/>
                </a:highlight>
              </a:rPr>
              <a:t>text-embedding-3-small</a:t>
            </a:r>
            <a:endParaRPr sz="800"/>
          </a:p>
        </p:txBody>
      </p:sp>
      <p:sp>
        <p:nvSpPr>
          <p:cNvPr id="94" name="Google Shape;94;p17"/>
          <p:cNvSpPr/>
          <p:nvPr/>
        </p:nvSpPr>
        <p:spPr>
          <a:xfrm>
            <a:off x="6722240" y="4401214"/>
            <a:ext cx="1047000" cy="91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exaone3.5:7.8b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bge-m3</a:t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180975" y="0"/>
            <a:ext cx="8915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3.1. 시스템 요약 </a:t>
            </a:r>
            <a:r>
              <a:rPr lang="en-US" sz="1000">
                <a:solidFill>
                  <a:schemeClr val="lt1"/>
                </a:solidFill>
              </a:rPr>
              <a:t>&lt;  3.개발 경과 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2378274" y="2909800"/>
            <a:ext cx="1090500" cy="3933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Preprocess</a:t>
            </a:r>
            <a:endParaRPr b="0" i="0" sz="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2394974" y="4271525"/>
            <a:ext cx="1030200" cy="3933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</a:t>
            </a:r>
            <a:endParaRPr b="0" i="0" sz="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2378274" y="3377625"/>
            <a:ext cx="1057200" cy="3933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retriever</a:t>
            </a:r>
            <a:endParaRPr b="0" i="0" sz="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2378274" y="3841250"/>
            <a:ext cx="1047000" cy="3933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reranker</a:t>
            </a:r>
            <a:endParaRPr b="0" i="0" sz="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2378274" y="4722900"/>
            <a:ext cx="1030200" cy="3933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History</a:t>
            </a:r>
            <a:endParaRPr b="0" i="0" sz="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9866" y="4611639"/>
            <a:ext cx="416400" cy="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79" y="4704839"/>
            <a:ext cx="512200" cy="512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7"/>
          <p:cNvCxnSpPr>
            <a:stCxn id="96" idx="1"/>
            <a:endCxn id="102" idx="0"/>
          </p:cNvCxnSpPr>
          <p:nvPr/>
        </p:nvCxnSpPr>
        <p:spPr>
          <a:xfrm flipH="1">
            <a:off x="501174" y="3106450"/>
            <a:ext cx="1877100" cy="15984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104" name="Google Shape;10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4191" y="1633051"/>
            <a:ext cx="485251" cy="48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0053" y="1730725"/>
            <a:ext cx="381912" cy="381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55967" y="4188389"/>
            <a:ext cx="381900" cy="3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72150" y="1716276"/>
            <a:ext cx="393300" cy="393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7"/>
          <p:cNvCxnSpPr>
            <a:stCxn id="105" idx="2"/>
            <a:endCxn id="96" idx="0"/>
          </p:cNvCxnSpPr>
          <p:nvPr/>
        </p:nvCxnSpPr>
        <p:spPr>
          <a:xfrm flipH="1" rot="-5400000">
            <a:off x="2168709" y="2154937"/>
            <a:ext cx="797100" cy="7125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9" name="Google Shape;109;p17"/>
          <p:cNvCxnSpPr>
            <a:stCxn id="104" idx="2"/>
            <a:endCxn id="96" idx="0"/>
          </p:cNvCxnSpPr>
          <p:nvPr/>
        </p:nvCxnSpPr>
        <p:spPr>
          <a:xfrm flipH="1" rot="-5400000">
            <a:off x="2479416" y="2465701"/>
            <a:ext cx="791400" cy="966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0" name="Google Shape;110;p17"/>
          <p:cNvCxnSpPr>
            <a:stCxn id="107" idx="2"/>
            <a:endCxn id="96" idx="0"/>
          </p:cNvCxnSpPr>
          <p:nvPr/>
        </p:nvCxnSpPr>
        <p:spPr>
          <a:xfrm rot="5400000">
            <a:off x="2796050" y="2236926"/>
            <a:ext cx="800100" cy="5454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1" name="Google Shape;111;p17"/>
          <p:cNvSpPr/>
          <p:nvPr/>
        </p:nvSpPr>
        <p:spPr>
          <a:xfrm>
            <a:off x="903441" y="1882139"/>
            <a:ext cx="897600" cy="416400"/>
          </a:xfrm>
          <a:prstGeom prst="wedgeRectCallout">
            <a:avLst>
              <a:gd fmla="val 95207" name="adj1"/>
              <a:gd fmla="val 65940" name="adj2"/>
            </a:avLst>
          </a:prstGeom>
          <a:noFill/>
          <a:ln cap="flat" cmpd="sng" w="12700">
            <a:solidFill>
              <a:srgbClr val="4496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</a:t>
            </a:r>
            <a:r>
              <a:rPr lang="en-US" sz="800">
                <a:solidFill>
                  <a:schemeClr val="dk1"/>
                </a:solidFill>
              </a:rPr>
              <a:t>메타 정보 읽기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>
                <a:solidFill>
                  <a:schemeClr val="dk1"/>
                </a:solidFill>
              </a:rPr>
              <a:t>(도메인/키워드)</a:t>
            </a:r>
            <a:endParaRPr sz="800">
              <a:solidFill>
                <a:schemeClr val="dk1"/>
              </a:solidFill>
            </a:endParaRPr>
          </a:p>
        </p:txBody>
      </p:sp>
      <p:cxnSp>
        <p:nvCxnSpPr>
          <p:cNvPr id="112" name="Google Shape;112;p17"/>
          <p:cNvCxnSpPr>
            <a:stCxn id="104" idx="3"/>
            <a:endCxn id="107" idx="1"/>
          </p:cNvCxnSpPr>
          <p:nvPr/>
        </p:nvCxnSpPr>
        <p:spPr>
          <a:xfrm>
            <a:off x="3069441" y="1875676"/>
            <a:ext cx="202800" cy="37200"/>
          </a:xfrm>
          <a:prstGeom prst="bentConnector3">
            <a:avLst>
              <a:gd fmla="val 49978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3" name="Google Shape;113;p17"/>
          <p:cNvSpPr/>
          <p:nvPr/>
        </p:nvSpPr>
        <p:spPr>
          <a:xfrm>
            <a:off x="2663840" y="1070489"/>
            <a:ext cx="975000" cy="416400"/>
          </a:xfrm>
          <a:prstGeom prst="wedgeRectCallout">
            <a:avLst>
              <a:gd fmla="val -938" name="adj1"/>
              <a:gd fmla="val 140592" name="adj2"/>
            </a:avLst>
          </a:prstGeom>
          <a:noFill/>
          <a:ln cap="flat" cmpd="sng" w="12700">
            <a:solidFill>
              <a:srgbClr val="4496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</a:t>
            </a:r>
            <a:r>
              <a:rPr lang="en-US" sz="800">
                <a:solidFill>
                  <a:schemeClr val="dk1"/>
                </a:solidFill>
              </a:rPr>
              <a:t>한글 키워드 변환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800">
                <a:solidFill>
                  <a:schemeClr val="dk1"/>
                </a:solidFill>
              </a:rPr>
              <a:t>▪ HWP Api이용</a:t>
            </a:r>
            <a:endParaRPr sz="800">
              <a:solidFill>
                <a:schemeClr val="dk1"/>
              </a:solidFill>
            </a:endParaRPr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68141" y="1745750"/>
            <a:ext cx="360300" cy="36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17"/>
          <p:cNvCxnSpPr>
            <a:stCxn id="114" idx="2"/>
            <a:endCxn id="96" idx="0"/>
          </p:cNvCxnSpPr>
          <p:nvPr/>
        </p:nvCxnSpPr>
        <p:spPr>
          <a:xfrm rot="5400000">
            <a:off x="3084091" y="1945550"/>
            <a:ext cx="803700" cy="11247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6" name="Google Shape;116;p17"/>
          <p:cNvCxnSpPr>
            <a:stCxn id="107" idx="3"/>
            <a:endCxn id="114" idx="1"/>
          </p:cNvCxnSpPr>
          <p:nvPr/>
        </p:nvCxnSpPr>
        <p:spPr>
          <a:xfrm>
            <a:off x="3665450" y="1912926"/>
            <a:ext cx="202800" cy="12900"/>
          </a:xfrm>
          <a:prstGeom prst="bentConnector3">
            <a:avLst>
              <a:gd fmla="val 49973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7" name="Google Shape;117;p17"/>
          <p:cNvSpPr/>
          <p:nvPr/>
        </p:nvSpPr>
        <p:spPr>
          <a:xfrm>
            <a:off x="3681245" y="1078034"/>
            <a:ext cx="1377300" cy="416400"/>
          </a:xfrm>
          <a:prstGeom prst="wedgeRectCallout">
            <a:avLst>
              <a:gd fmla="val -45867" name="adj1"/>
              <a:gd fmla="val 143751" name="adj2"/>
            </a:avLst>
          </a:prstGeom>
          <a:noFill/>
          <a:ln cap="flat" cmpd="sng" w="12700">
            <a:solidFill>
              <a:srgbClr val="4496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</a:t>
            </a:r>
            <a:r>
              <a:rPr lang="en-US" sz="800">
                <a:solidFill>
                  <a:schemeClr val="dk1"/>
                </a:solidFill>
              </a:rPr>
              <a:t>표/그림 요약 저장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800">
                <a:solidFill>
                  <a:schemeClr val="dk1"/>
                </a:solidFill>
              </a:rPr>
              <a:t>▪ openai 이용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989625" y="2572579"/>
            <a:ext cx="897600" cy="416400"/>
          </a:xfrm>
          <a:prstGeom prst="wedgeRectCallout">
            <a:avLst>
              <a:gd fmla="val 33962" name="adj1"/>
              <a:gd fmla="val 77052" name="adj2"/>
            </a:avLst>
          </a:prstGeom>
          <a:noFill/>
          <a:ln cap="flat" cmpd="sng" w="12700">
            <a:solidFill>
              <a:srgbClr val="4496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</a:t>
            </a:r>
            <a:r>
              <a:rPr lang="en-US" sz="800">
                <a:solidFill>
                  <a:schemeClr val="dk1"/>
                </a:solidFill>
              </a:rPr>
              <a:t>메타 정보 저장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>
                <a:solidFill>
                  <a:schemeClr val="dk1"/>
                </a:solidFill>
              </a:rPr>
              <a:t>(도메인/키워드)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7122861" y="1397198"/>
            <a:ext cx="6216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openai</a:t>
            </a:r>
            <a:endParaRPr sz="800"/>
          </a:p>
        </p:txBody>
      </p:sp>
      <p:sp>
        <p:nvSpPr>
          <p:cNvPr id="120" name="Google Shape;120;p17"/>
          <p:cNvSpPr txBox="1"/>
          <p:nvPr/>
        </p:nvSpPr>
        <p:spPr>
          <a:xfrm>
            <a:off x="7092347" y="4181887"/>
            <a:ext cx="6216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GCP</a:t>
            </a:r>
            <a:endParaRPr sz="800"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58688" y="1448145"/>
            <a:ext cx="416400" cy="357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7170249" y="4719196"/>
            <a:ext cx="6216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ollama</a:t>
            </a:r>
            <a:endParaRPr sz="800"/>
          </a:p>
        </p:txBody>
      </p:sp>
      <p:cxnSp>
        <p:nvCxnSpPr>
          <p:cNvPr id="123" name="Google Shape;123;p17"/>
          <p:cNvCxnSpPr>
            <a:stCxn id="93" idx="1"/>
            <a:endCxn id="124" idx="3"/>
          </p:cNvCxnSpPr>
          <p:nvPr/>
        </p:nvCxnSpPr>
        <p:spPr>
          <a:xfrm flipH="1">
            <a:off x="5733084" y="1923889"/>
            <a:ext cx="981000" cy="16395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5" name="Google Shape;125;p17"/>
          <p:cNvCxnSpPr>
            <a:stCxn id="94" idx="1"/>
            <a:endCxn id="124" idx="3"/>
          </p:cNvCxnSpPr>
          <p:nvPr/>
        </p:nvCxnSpPr>
        <p:spPr>
          <a:xfrm rot="10800000">
            <a:off x="5733140" y="3563464"/>
            <a:ext cx="989100" cy="12951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6" name="Google Shape;126;p17"/>
          <p:cNvSpPr/>
          <p:nvPr/>
        </p:nvSpPr>
        <p:spPr>
          <a:xfrm>
            <a:off x="4627566" y="2118290"/>
            <a:ext cx="1377300" cy="485400"/>
          </a:xfrm>
          <a:prstGeom prst="wedgeRectCallout">
            <a:avLst>
              <a:gd fmla="val -32840" name="adj1"/>
              <a:gd fmla="val 208856" name="adj2"/>
            </a:avLst>
          </a:prstGeom>
          <a:noFill/>
          <a:ln cap="flat" cmpd="sng" w="12700">
            <a:solidFill>
              <a:srgbClr val="4496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</a:t>
            </a:r>
            <a:r>
              <a:rPr lang="en-US" sz="800">
                <a:solidFill>
                  <a:schemeClr val="dk1"/>
                </a:solidFill>
              </a:rPr>
              <a:t>옵션에 따라서 openai/ollama 사용가능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>
                <a:solidFill>
                  <a:schemeClr val="dk1"/>
                </a:solidFill>
              </a:rPr>
              <a:t>하도록 한다.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4272318" y="3366804"/>
            <a:ext cx="1460700" cy="3933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selector</a:t>
            </a:r>
            <a:endParaRPr b="0" i="0" sz="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7" name="Google Shape;127;p17"/>
          <p:cNvCxnSpPr>
            <a:stCxn id="124" idx="1"/>
            <a:endCxn id="97" idx="3"/>
          </p:cNvCxnSpPr>
          <p:nvPr/>
        </p:nvCxnSpPr>
        <p:spPr>
          <a:xfrm flipH="1">
            <a:off x="3425118" y="3563454"/>
            <a:ext cx="847200" cy="9048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8" name="Google Shape;128;p17"/>
          <p:cNvCxnSpPr>
            <a:stCxn id="124" idx="1"/>
            <a:endCxn id="98" idx="3"/>
          </p:cNvCxnSpPr>
          <p:nvPr/>
        </p:nvCxnSpPr>
        <p:spPr>
          <a:xfrm flipH="1">
            <a:off x="3435618" y="3563454"/>
            <a:ext cx="836700" cy="108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9" name="Google Shape;129;p17"/>
          <p:cNvCxnSpPr>
            <a:stCxn id="124" idx="1"/>
            <a:endCxn id="99" idx="3"/>
          </p:cNvCxnSpPr>
          <p:nvPr/>
        </p:nvCxnSpPr>
        <p:spPr>
          <a:xfrm flipH="1">
            <a:off x="3425418" y="3563454"/>
            <a:ext cx="846900" cy="4743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0" name="Google Shape;130;p17"/>
          <p:cNvCxnSpPr>
            <a:stCxn id="124" idx="1"/>
            <a:endCxn id="96" idx="3"/>
          </p:cNvCxnSpPr>
          <p:nvPr/>
        </p:nvCxnSpPr>
        <p:spPr>
          <a:xfrm rot="10800000">
            <a:off x="3468918" y="3106554"/>
            <a:ext cx="803400" cy="4569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1" name="Google Shape;131;p17"/>
          <p:cNvCxnSpPr>
            <a:stCxn id="98" idx="1"/>
            <a:endCxn id="102" idx="0"/>
          </p:cNvCxnSpPr>
          <p:nvPr/>
        </p:nvCxnSpPr>
        <p:spPr>
          <a:xfrm flipH="1">
            <a:off x="501174" y="3574275"/>
            <a:ext cx="1877100" cy="11307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2" name="Google Shape;132;p17"/>
          <p:cNvSpPr/>
          <p:nvPr/>
        </p:nvSpPr>
        <p:spPr>
          <a:xfrm>
            <a:off x="628817" y="3697450"/>
            <a:ext cx="1316100" cy="416400"/>
          </a:xfrm>
          <a:prstGeom prst="wedgeRectCallout">
            <a:avLst>
              <a:gd fmla="val 17696" name="adj1"/>
              <a:gd fmla="val -75805" name="adj2"/>
            </a:avLst>
          </a:prstGeom>
          <a:noFill/>
          <a:ln cap="flat" cmpd="sng" w="12700">
            <a:solidFill>
              <a:srgbClr val="4496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</a:t>
            </a:r>
            <a:r>
              <a:rPr lang="en-US" sz="800">
                <a:solidFill>
                  <a:schemeClr val="dk1"/>
                </a:solidFill>
              </a:rPr>
              <a:t>임베딩/chunk/overlap에 따른 cache저장/로드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2381675" y="5160875"/>
            <a:ext cx="1030200" cy="3933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evaluation</a:t>
            </a:r>
            <a:endParaRPr b="0" i="0" sz="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3714183" y="4533667"/>
            <a:ext cx="1551900" cy="416400"/>
          </a:xfrm>
          <a:prstGeom prst="wedgeRectCallout">
            <a:avLst>
              <a:gd fmla="val -71448" name="adj1"/>
              <a:gd fmla="val -8261" name="adj2"/>
            </a:avLst>
          </a:prstGeom>
          <a:noFill/>
          <a:ln cap="flat" cmpd="sng" w="12700">
            <a:solidFill>
              <a:srgbClr val="4496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</a:t>
            </a:r>
            <a:r>
              <a:rPr lang="en-US" sz="800">
                <a:solidFill>
                  <a:schemeClr val="dk1"/>
                </a:solidFill>
              </a:rPr>
              <a:t>openai/ollama/hf 모델 구현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3734158" y="4991017"/>
            <a:ext cx="1316100" cy="357300"/>
          </a:xfrm>
          <a:prstGeom prst="wedgeRectCallout">
            <a:avLst>
              <a:gd fmla="val -71395" name="adj1"/>
              <a:gd fmla="val -23667" name="adj2"/>
            </a:avLst>
          </a:prstGeom>
          <a:noFill/>
          <a:ln cap="flat" cmpd="sng" w="12700">
            <a:solidFill>
              <a:srgbClr val="4496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</a:t>
            </a:r>
            <a:r>
              <a:rPr lang="en-US" sz="800">
                <a:solidFill>
                  <a:schemeClr val="dk1"/>
                </a:solidFill>
              </a:rPr>
              <a:t>세션 질의 history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734158" y="5389267"/>
            <a:ext cx="1316100" cy="357300"/>
          </a:xfrm>
          <a:prstGeom prst="wedgeRectCallout">
            <a:avLst>
              <a:gd fmla="val -71395" name="adj1"/>
              <a:gd fmla="val -23667" name="adj2"/>
            </a:avLst>
          </a:prstGeom>
          <a:noFill/>
          <a:ln cap="flat" cmpd="sng" w="12700">
            <a:solidFill>
              <a:srgbClr val="4496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</a:t>
            </a:r>
            <a:r>
              <a:rPr lang="en-US" sz="800">
                <a:solidFill>
                  <a:schemeClr val="dk1"/>
                </a:solidFill>
              </a:rPr>
              <a:t>평가</a:t>
            </a:r>
            <a:endParaRPr sz="800">
              <a:solidFill>
                <a:schemeClr val="dk1"/>
              </a:solidFill>
            </a:endParaRPr>
          </a:p>
        </p:txBody>
      </p:sp>
      <p:pic>
        <p:nvPicPr>
          <p:cNvPr id="137" name="Google Shape;137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45516" y="5604554"/>
            <a:ext cx="433200" cy="59329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2466364" y="5992282"/>
            <a:ext cx="14913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RAG process</a:t>
            </a:r>
            <a:endParaRPr sz="800"/>
          </a:p>
        </p:txBody>
      </p:sp>
      <p:cxnSp>
        <p:nvCxnSpPr>
          <p:cNvPr id="139" name="Google Shape;139;p17"/>
          <p:cNvCxnSpPr>
            <a:stCxn id="133" idx="1"/>
            <a:endCxn id="102" idx="3"/>
          </p:cNvCxnSpPr>
          <p:nvPr/>
        </p:nvCxnSpPr>
        <p:spPr>
          <a:xfrm rot="10800000">
            <a:off x="757175" y="4960925"/>
            <a:ext cx="1624500" cy="396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0" name="Google Shape;140;p17"/>
          <p:cNvSpPr/>
          <p:nvPr/>
        </p:nvSpPr>
        <p:spPr>
          <a:xfrm>
            <a:off x="83616" y="5439150"/>
            <a:ext cx="1579200" cy="416400"/>
          </a:xfrm>
          <a:prstGeom prst="wedgeRectCallout">
            <a:avLst>
              <a:gd fmla="val 41653" name="adj1"/>
              <a:gd fmla="val -99484" name="adj2"/>
            </a:avLst>
          </a:prstGeom>
          <a:noFill/>
          <a:ln cap="flat" cmpd="sng" w="12700">
            <a:solidFill>
              <a:srgbClr val="4496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</a:t>
            </a:r>
            <a:r>
              <a:rPr lang="en-US" sz="800">
                <a:solidFill>
                  <a:schemeClr val="dk1"/>
                </a:solidFill>
              </a:rPr>
              <a:t>평가 질의/응답/스코어 저장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82776" y="790512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▣ 시스템 구성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180975" y="0"/>
            <a:ext cx="8915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3.2. </a:t>
            </a:r>
            <a:r>
              <a:rPr lang="en-US" sz="2800">
                <a:solidFill>
                  <a:schemeClr val="lt1"/>
                </a:solidFill>
              </a:rPr>
              <a:t>환경 및 전처리(1) </a:t>
            </a:r>
            <a:r>
              <a:rPr lang="en-US" sz="1000">
                <a:solidFill>
                  <a:schemeClr val="lt1"/>
                </a:solidFill>
              </a:rPr>
              <a:t>&lt;  3.개발 경과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8" name="Google Shape;148;p18"/>
          <p:cNvGraphicFramePr/>
          <p:nvPr/>
        </p:nvGraphicFramePr>
        <p:xfrm>
          <a:off x="285750" y="71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{E9E42A6E-D9D0-42C0-9BBE-281496660CEC}</a:tableStyleId>
              </a:tblPr>
              <a:tblGrid>
                <a:gridCol w="9310700"/>
              </a:tblGrid>
              <a:tr h="21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1. </a:t>
                      </a: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환경</a:t>
                      </a:r>
                      <a:endParaRPr sz="1200" u="none" cap="none" strike="noStrike"/>
                    </a:p>
                  </a:txBody>
                  <a:tcPr marT="54000" marB="54000" marR="99050" marL="990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GCP 기반 환경 구축.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Openai 기반 환경.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. 전처리/database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hwp 파일의 pdf변경: 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Hancom Office API를 이용한 HWP-&gt;PDF변환</a:t>
                      </a:r>
                      <a:r>
                        <a:rPr i="0" lang="en-US" sz="1000" u="none" cap="none" strike="noStrike">
                          <a:solidFill>
                            <a:schemeClr val="dk1"/>
                          </a:solidFill>
                        </a:rPr>
                        <a:t>.(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같은 파일이름의 pdf로 변경)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/>
                        <a:t>pdf의 표와 그림을 요약하여 같은파일 이름의 txt로 저장.</a:t>
                      </a:r>
                      <a:endParaRPr sz="1000"/>
                    </a:p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✓"/>
                      </a:pPr>
                      <a:r>
                        <a:rPr lang="en-US" sz="1000"/>
                        <a:t>도메인/키워드 추출하여 DB 에 저장. 향후 질의 응답에 사용.</a:t>
                      </a:r>
                      <a:endParaRPr sz="1000"/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="1" i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HWP -&gt; PDF 저장</a:t>
                      </a:r>
                      <a:endParaRPr sz="1200" u="none" cap="none" strike="noStrike"/>
                    </a:p>
                  </a:txBody>
                  <a:tcPr marT="54000" marB="54000" marR="99050" marL="990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0925">
                <a:tc>
                  <a:txBody>
                    <a:bodyPr/>
                    <a:lstStyle/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2"/>
                          </a:solidFill>
                        </a:rPr>
                        <a:t>같은 디렉토리에 hwp를 pdf를 저장.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Hancom Office API를 이용해서 저장.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b="1" i="1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Table/Figure 요약</a:t>
                      </a:r>
                      <a:endParaRPr sz="1200" u="none" cap="none" strike="noStrike"/>
                    </a:p>
                  </a:txBody>
                  <a:tcPr marT="54000" marB="54000" marR="99050" marL="990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900">
                <a:tc>
                  <a:txBody>
                    <a:bodyPr/>
                    <a:lstStyle/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Openai를 이용해서 table/figure 를 요약해서 txt 파일로 저장.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180975" y="0"/>
            <a:ext cx="8915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3.2. 환경 및 전처리(2) </a:t>
            </a:r>
            <a:r>
              <a:rPr lang="en-US" sz="1000">
                <a:solidFill>
                  <a:schemeClr val="lt1"/>
                </a:solidFill>
              </a:rPr>
              <a:t>&lt;  3.개발 경과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5" name="Google Shape;155;p19"/>
          <p:cNvGraphicFramePr/>
          <p:nvPr/>
        </p:nvGraphicFramePr>
        <p:xfrm>
          <a:off x="285750" y="71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{E9E42A6E-D9D0-42C0-9BBE-281496660CEC}</a:tableStyleId>
              </a:tblPr>
              <a:tblGrid>
                <a:gridCol w="9310700"/>
              </a:tblGrid>
              <a:tr h="21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GCP </a:t>
                      </a: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환경 설정 및 Openai</a:t>
                      </a:r>
                      <a:endParaRPr sz="1200" u="none" cap="none" strike="noStrike"/>
                    </a:p>
                  </a:txBody>
                  <a:tcPr marT="54000" marB="54000" marR="99050" marL="990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GCP(Google Cloud Platform) 인스턴스 내 Ollama 서버 설치 및 운영.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DuckDNS를 이용한 DDNS 설정으로 유동 IP 환경에서도 안정적인 API 엔드포인트 확보.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보안과 비용 효율성을 고려한 'Cloud On-premise' 환경 제공.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165100" lvl="0" marL="17780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openai key제공.(인터넷 서비스로 제공 받음)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n-US" sz="1200">
                          <a:solidFill>
                            <a:schemeClr val="dk1"/>
                          </a:solidFill>
                        </a:rPr>
                        <a:t>요약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800">
                <a:tc>
                  <a:txBody>
                    <a:bodyPr/>
                    <a:lstStyle/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Ollama: 로컬 환경에서 대규모 언어 모델(LLM)을 실행하게 해주는 도구.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Char char="✓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DuckDns : </a:t>
                      </a:r>
                      <a:r>
                        <a:rPr lang="en-US" sz="1000" u="sng">
                          <a:solidFill>
                            <a:schemeClr val="hlink"/>
                          </a:solidFill>
                          <a:hlinkClick r:id="rId3"/>
                        </a:rPr>
                        <a:t>midprj.duckdsn.org:11434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 로 ollama접속 가능.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165100" lvl="0" marL="177800" marR="0" rtl="0" algn="l">
                        <a:lnSpc>
                          <a:spcPct val="14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✓"/>
                      </a:pPr>
                      <a:r>
                        <a:rPr lang="en-US" sz="1000"/>
                        <a:t>Cloud On-premise: 클라우드 자원을 마치 사내 서버(On-premise)처럼 프라이빗하게 운영한다는 개념</a:t>
                      </a:r>
                      <a:r>
                        <a:rPr lang="en-US" sz="1000"/>
                        <a:t>.</a:t>
                      </a:r>
                      <a:endParaRPr sz="1000"/>
                    </a:p>
                  </a:txBody>
                  <a:tcPr marT="54000" marB="54000" marR="99050" marL="9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597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" name="Google Shape;156;p19"/>
          <p:cNvGraphicFramePr/>
          <p:nvPr/>
        </p:nvGraphicFramePr>
        <p:xfrm>
          <a:off x="268300" y="33185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{0C64820F-792A-40B2-B8F5-73BCD3C2C72A}</a:tableStyleId>
              </a:tblPr>
              <a:tblGrid>
                <a:gridCol w="1294750"/>
                <a:gridCol w="3094225"/>
                <a:gridCol w="3423400"/>
              </a:tblGrid>
              <a:tr h="25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구분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Ollama (올라마)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vLLM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5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주요 목적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로컬/개인용</a:t>
                      </a: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 쉬운 실행 및 관리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기업형/서버용</a:t>
                      </a: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 고성능 추론 및 서빙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난이도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매우 낮음 (설치 즉시 사용)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보통~높음 (Python/CUDA 환경 설정 필요)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최적화 기술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GGUF</a:t>
                      </a: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 (양자화 중심, 저사양 최적화)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PagedAttention</a:t>
                      </a: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 (처리량/속도 극대화)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리소스 요구량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낮음 (일반 PC, MacBook 가능)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높음 (VRAM이 넉넉한 고성능 GPU 권장)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F1F1F"/>
                          </a:solidFill>
                        </a:rPr>
                        <a:t>인터페이스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CLI, 자체 API, 다양한 라이브러리 연동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</a:rPr>
                        <a:t>OpenAI 호환 API 서버 중심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19"/>
          <p:cNvSpPr txBox="1"/>
          <p:nvPr/>
        </p:nvSpPr>
        <p:spPr>
          <a:xfrm>
            <a:off x="285750" y="2958506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chemeClr val="dk1"/>
                </a:solidFill>
              </a:rPr>
              <a:t>ollama/vLLM 비교시  선정 이유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285750" y="5428650"/>
            <a:ext cx="57702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chemeClr val="dk1"/>
                </a:solidFill>
              </a:rPr>
              <a:t>ollama </a:t>
            </a:r>
            <a:r>
              <a:rPr b="1" i="1" lang="en-US" sz="1200">
                <a:solidFill>
                  <a:schemeClr val="dk1"/>
                </a:solidFill>
              </a:rPr>
              <a:t>쓰는 이유</a:t>
            </a:r>
            <a:endParaRPr b="1" i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▪ </a:t>
            </a:r>
            <a:r>
              <a:rPr lang="en-US" sz="1000">
                <a:solidFill>
                  <a:srgbClr val="1F1F1F"/>
                </a:solidFill>
              </a:rPr>
              <a:t>최적화된 실행 환경.(HuggingFace등으로 직접 모델을 구축할 경우, 모든 것을 수동으로 해야함)</a:t>
            </a:r>
            <a:endParaRPr sz="10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▪ 양자화 기본 적용.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▪ 자원의 공유.(ollama서비스를 하므로 GPU를 여러 사람이 쓰는 효과.)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▪ 보안성과 사내 클라우드나 로컬 네트워크에서 사용 가능.</a:t>
            </a:r>
            <a:endParaRPr b="1" i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title"/>
          </p:nvPr>
        </p:nvSpPr>
        <p:spPr>
          <a:xfrm>
            <a:off x="180975" y="0"/>
            <a:ext cx="8915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3.2. 환경 및 전처리(3) </a:t>
            </a:r>
            <a:r>
              <a:rPr lang="en-US" sz="1000">
                <a:solidFill>
                  <a:schemeClr val="lt1"/>
                </a:solidFill>
              </a:rPr>
              <a:t>&lt;  3.개발 경과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82776" y="790512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▣ </a:t>
            </a:r>
            <a:r>
              <a:rPr b="1" lang="en-US" sz="1200">
                <a:solidFill>
                  <a:schemeClr val="dk1"/>
                </a:solidFill>
              </a:rPr>
              <a:t>전처리 파이프라인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12212"/>
            <a:ext cx="9601203" cy="216120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" name="Google Shape;167;p20"/>
          <p:cNvGraphicFramePr/>
          <p:nvPr/>
        </p:nvGraphicFramePr>
        <p:xfrm>
          <a:off x="111025" y="365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{0C64820F-792A-40B2-B8F5-73BCD3C2C72A}</a:tableStyleId>
              </a:tblPr>
              <a:tblGrid>
                <a:gridCol w="1856300"/>
                <a:gridCol w="1482375"/>
                <a:gridCol w="2384400"/>
                <a:gridCol w="38199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Step</a:t>
                      </a:r>
                      <a:endParaRPr b="1"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Input</a:t>
                      </a:r>
                      <a:endParaRPr b="1"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Process</a:t>
                      </a:r>
                      <a:endParaRPr b="1"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/>
                        <a:t>Output</a:t>
                      </a:r>
                      <a:endParaRPr b="1"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1. 메타데이터 ETL &amp; 수치 정규화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datalist.csv (입찰 목록 데이터)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한국어 수치(예: "1억") → 표준 숫자(100,000,000)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지역/도메인 분류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SQLite rfp_metadata 테이블 저장 (공고번호, 예산, 기관 정보 등)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2. 문서 형식 표준화 (Conversion)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원본 .hwp 파일 (한글 문서)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HWPConverter 활용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분석 호환성 확보를 위해 PDF 포맷 변환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분석용 .pdf 파일 생성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3. 지능형 요약 (Analysis &amp; Summary)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변환된 .pdf 파일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OpenAI GPT-5-min 활용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비정형 데이터(표, 그림 등) → 자연어 요약문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단순 텍스트 추출이 아닌 의미 기반 컨텍스트 요약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요약 결과 (텍스트)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4. 결과 저장 및 캐싱 (Output &amp; Caching)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요약 결과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물리 .txt 파일 저장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RAG 검색 참조용 캐싱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최종 .txt 파일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180975" y="0"/>
            <a:ext cx="8915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3.3. </a:t>
            </a:r>
            <a:r>
              <a:rPr lang="en-US" sz="2800">
                <a:solidFill>
                  <a:schemeClr val="lt1"/>
                </a:solidFill>
              </a:rPr>
              <a:t>모델 구현 </a:t>
            </a:r>
            <a:r>
              <a:rPr lang="en-US" sz="1000">
                <a:solidFill>
                  <a:schemeClr val="lt1"/>
                </a:solidFill>
              </a:rPr>
              <a:t>&lt;  3.개발 경과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803" y="1669625"/>
            <a:ext cx="4432876" cy="35584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82776" y="790512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▣ </a:t>
            </a:r>
            <a:r>
              <a:rPr b="1" lang="en-US" sz="1200">
                <a:solidFill>
                  <a:schemeClr val="dk1"/>
                </a:solidFill>
              </a:rPr>
              <a:t>모델 질의-응답 파이프 라인</a:t>
            </a:r>
            <a:endParaRPr b="1" sz="1200">
              <a:solidFill>
                <a:schemeClr val="dk1"/>
              </a:solidFill>
            </a:endParaRPr>
          </a:p>
        </p:txBody>
      </p:sp>
      <p:graphicFrame>
        <p:nvGraphicFramePr>
          <p:cNvPr id="176" name="Google Shape;176;p21"/>
          <p:cNvGraphicFramePr/>
          <p:nvPr/>
        </p:nvGraphicFramePr>
        <p:xfrm>
          <a:off x="5160363" y="11263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{0C64820F-792A-40B2-B8F5-73BCD3C2C72A}</a:tableStyleId>
              </a:tblPr>
              <a:tblGrid>
                <a:gridCol w="996825"/>
                <a:gridCol w="3548400"/>
              </a:tblGrid>
              <a:tr h="130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모듈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종류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57400">
                <a:tc row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Model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</a:rPr>
                        <a:t>openai : gpt-5-mini, text-embedding-3-small</a:t>
                      </a:r>
                      <a:endParaRPr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</a:rPr>
                        <a:t>Ollama: exaone3.5:7.8b, bge-m3</a:t>
                      </a:r>
                      <a:endParaRPr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</a:rPr>
                        <a:t>hugging face: nlpai-lab/KULLM3,  nlpai-lab/KoE5</a:t>
                      </a:r>
                      <a:endParaRPr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375">
                <a:tc rowSpan="7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Retriever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bm25: BM25 알고리즘을 사용한 전통적인 키워드 기반 검색기.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3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vector: 임베딩 벡터를 활용한 유사도 기반 벡터 검색기.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3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hybrid: BM25와 벡터 검색을 결합한 하이브리드 검색기.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3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llm: LLM(대형 언어 모델)을 활용한 생성형 검색기.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3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bm25_llm": BM25 검색 결과를 LLM으로 후처리하는 검색기.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3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vector_ll: 벡터 검색 결과를 LLM으로 후처리하는 검색기.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9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hybrid_llm: 하이브리드 검색 결과를 LLM으로 후처리하는 검색기.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800">
                <a:tc row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F1F1F"/>
                          </a:solidFill>
                        </a:rPr>
                        <a:t>Reranker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</a:rPr>
                        <a:t>bge: BGE Cross-Encoder 모델을 활용한 의미 기반 리랭킹 방식.</a:t>
                      </a:r>
                      <a:endParaRPr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8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</a:rPr>
                        <a:t>dense: 임베딩 벡터 유사도를 이용한 단순 벡터 기반 리랭킹 방식.</a:t>
                      </a:r>
                      <a:endParaRPr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8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</a:rPr>
                        <a:t>OpenAI/Ollama: LLM API(OpenAI 또는 Ollama)를 활용해 문서 관련도를 평가하는 리랭킹 방식.</a:t>
                      </a:r>
                      <a:endParaRPr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8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</a:rPr>
                        <a:t>hybrid: BGE와 Dense 결합하여 가중 평균으로 리랭킹하는 하이브리드 방식.</a:t>
                      </a:r>
                      <a:endParaRPr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>
            <p:ph type="title"/>
          </p:nvPr>
        </p:nvSpPr>
        <p:spPr>
          <a:xfrm>
            <a:off x="180975" y="0"/>
            <a:ext cx="8915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3.4. </a:t>
            </a:r>
            <a:r>
              <a:rPr lang="en-US" sz="2800">
                <a:solidFill>
                  <a:schemeClr val="lt1"/>
                </a:solidFill>
              </a:rPr>
              <a:t>평가 </a:t>
            </a:r>
            <a:r>
              <a:rPr lang="en-US" sz="1000">
                <a:solidFill>
                  <a:schemeClr val="lt1"/>
                </a:solidFill>
              </a:rPr>
              <a:t>&lt;  3.개발 경과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>
            <p:ph type="title"/>
          </p:nvPr>
        </p:nvSpPr>
        <p:spPr>
          <a:xfrm>
            <a:off x="180975" y="0"/>
            <a:ext cx="8915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3.4.1. </a:t>
            </a:r>
            <a:r>
              <a:rPr lang="en-US" sz="2800">
                <a:solidFill>
                  <a:schemeClr val="lt1"/>
                </a:solidFill>
              </a:rPr>
              <a:t>옵션 평가</a:t>
            </a:r>
            <a:r>
              <a:rPr lang="en-US" sz="2800">
                <a:solidFill>
                  <a:schemeClr val="lt1"/>
                </a:solidFill>
              </a:rPr>
              <a:t>  </a:t>
            </a:r>
            <a:r>
              <a:rPr lang="en-US" sz="1000">
                <a:solidFill>
                  <a:schemeClr val="lt1"/>
                </a:solidFill>
              </a:rPr>
              <a:t>&lt;  3.개발 경과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>
            <p:ph type="title"/>
          </p:nvPr>
        </p:nvSpPr>
        <p:spPr>
          <a:xfrm>
            <a:off x="180975" y="0"/>
            <a:ext cx="8915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3.4.2. retriever/reranker </a:t>
            </a:r>
            <a:r>
              <a:rPr lang="en-US" sz="2800">
                <a:solidFill>
                  <a:schemeClr val="lt1"/>
                </a:solidFill>
              </a:rPr>
              <a:t>평가</a:t>
            </a:r>
            <a:r>
              <a:rPr lang="en-US" sz="2800">
                <a:solidFill>
                  <a:schemeClr val="lt1"/>
                </a:solidFill>
              </a:rPr>
              <a:t>  </a:t>
            </a:r>
            <a:r>
              <a:rPr lang="en-US" sz="1000">
                <a:solidFill>
                  <a:schemeClr val="lt1"/>
                </a:solidFill>
              </a:rPr>
              <a:t>&lt;  3.개발 경과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180975" y="0"/>
            <a:ext cx="8915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4. </a:t>
            </a:r>
            <a:r>
              <a:rPr lang="en-US" sz="2800">
                <a:solidFill>
                  <a:schemeClr val="lt1"/>
                </a:solidFill>
              </a:rPr>
              <a:t>시연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180975" y="0"/>
            <a:ext cx="8915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5</a:t>
            </a:r>
            <a:r>
              <a:rPr lang="en-US" sz="2800">
                <a:solidFill>
                  <a:schemeClr val="lt1"/>
                </a:solidFill>
              </a:rPr>
              <a:t>. </a:t>
            </a:r>
            <a:r>
              <a:rPr lang="en-US" sz="2800">
                <a:solidFill>
                  <a:schemeClr val="lt1"/>
                </a:solidFill>
              </a:rPr>
              <a:t>회고 및 향후 과제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삼성증권_제안요청서_Template">
  <a:themeElements>
    <a:clrScheme name="KTF_제안서_템플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