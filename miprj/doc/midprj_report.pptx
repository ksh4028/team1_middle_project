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y="6858000" cx="9906000"/>
  <p:notesSz cx="6797675" cy="9926625"/>
  <p:embeddedFontLst>
    <p:embeddedFont>
      <p:font typeface="Carme"/>
      <p:regular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12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82B383-68EF-4D6B-ACC3-612C13BCABF2}">
  <a:tblStyle styleId="{B182B383-68EF-4D6B-ACC3-612C13BCAB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12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font" Target="fonts/Carme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49688" y="0"/>
            <a:ext cx="2946400" cy="49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428163"/>
            <a:ext cx="2946400" cy="4968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:notes"/>
          <p:cNvSpPr txBox="1"/>
          <p:nvPr>
            <p:ph idx="1" type="body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" name="Google Shape;62;p1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" name="Google Shape;69;p2:notes"/>
          <p:cNvSpPr txBox="1"/>
          <p:nvPr>
            <p:ph idx="1" type="body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:notes"/>
          <p:cNvSpPr txBox="1"/>
          <p:nvPr>
            <p:ph idx="12" type="sldNum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3:notes"/>
          <p:cNvSpPr txBox="1"/>
          <p:nvPr>
            <p:ph idx="12" type="sldNum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8" name="Google Shape;98;p5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5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6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p7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7" name="Google Shape;187;p9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9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6" name="Google Shape;196;p10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11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1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12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2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0" name="Google Shape;230;p13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3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4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p14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4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5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15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5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6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p16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6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7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p17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7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8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p18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8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9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5" name="Google Shape;285;p19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9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0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5" name="Google Shape;295;p20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0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1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21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1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2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8" name="Google Shape;318;p22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2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3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p23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3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4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0" name="Google Shape;350;p24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4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5:notes"/>
          <p:cNvSpPr/>
          <p:nvPr>
            <p:ph idx="2" type="sldImg"/>
          </p:nvPr>
        </p:nvSpPr>
        <p:spPr>
          <a:xfrm>
            <a:off x="711200" y="744538"/>
            <a:ext cx="5376863" cy="37226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p25:notes"/>
          <p:cNvSpPr txBox="1"/>
          <p:nvPr>
            <p:ph idx="1" type="body"/>
          </p:nvPr>
        </p:nvSpPr>
        <p:spPr>
          <a:xfrm>
            <a:off x="679450" y="4714875"/>
            <a:ext cx="5438700" cy="44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25:notes"/>
          <p:cNvSpPr txBox="1"/>
          <p:nvPr>
            <p:ph idx="12" type="sldNum"/>
          </p:nvPr>
        </p:nvSpPr>
        <p:spPr>
          <a:xfrm>
            <a:off x="3849688" y="9428163"/>
            <a:ext cx="2946300" cy="49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rial"/>
                <a:ea typeface="Arial"/>
                <a:cs typeface="Arial"/>
                <a:sym typeface="Arial"/>
              </a:rPr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" type="body"/>
          </p:nvPr>
        </p:nvSpPr>
        <p:spPr>
          <a:xfrm>
            <a:off x="495300" y="1600200"/>
            <a:ext cx="43815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2" type="body"/>
          </p:nvPr>
        </p:nvSpPr>
        <p:spPr>
          <a:xfrm>
            <a:off x="5029200" y="1600200"/>
            <a:ext cx="43815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9269849" y="6333134"/>
            <a:ext cx="5943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Carme"/>
                <a:ea typeface="Carme"/>
                <a:cs typeface="Carme"/>
                <a:sym typeface="Carm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0" y="-10750"/>
            <a:ext cx="9906000" cy="670500"/>
          </a:xfrm>
          <a:prstGeom prst="rect">
            <a:avLst/>
          </a:prstGeom>
          <a:solidFill>
            <a:srgbClr val="66666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ctrTitle"/>
          </p:nvPr>
        </p:nvSpPr>
        <p:spPr>
          <a:xfrm>
            <a:off x="337684" y="992767"/>
            <a:ext cx="9230700" cy="2736900"/>
          </a:xfrm>
          <a:prstGeom prst="rect">
            <a:avLst/>
          </a:prstGeom>
          <a:noFill/>
          <a:ln>
            <a:noFill/>
          </a:ln>
        </p:spPr>
        <p:txBody>
          <a:bodyPr anchorCtr="0" anchor="b" bIns="106650" lIns="106650" spcFirstLastPara="1" rIns="106650" wrap="square" tIns="1066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100"/>
              <a:buNone/>
              <a:defRPr sz="6100"/>
            </a:lvl9pPr>
          </a:lstStyle>
          <a:p/>
        </p:txBody>
      </p:sp>
      <p:sp>
        <p:nvSpPr>
          <p:cNvPr id="23" name="Google Shape;23;p4"/>
          <p:cNvSpPr txBox="1"/>
          <p:nvPr>
            <p:ph idx="1" type="subTitle"/>
          </p:nvPr>
        </p:nvSpPr>
        <p:spPr>
          <a:xfrm>
            <a:off x="337675" y="3778833"/>
            <a:ext cx="92307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37675" y="2867800"/>
            <a:ext cx="9230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37675" y="593367"/>
            <a:ext cx="923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37675" y="1536633"/>
            <a:ext cx="923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-3619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37675" y="593367"/>
            <a:ext cx="923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37675" y="1536633"/>
            <a:ext cx="43332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35" name="Google Shape;35;p7"/>
          <p:cNvSpPr txBox="1"/>
          <p:nvPr>
            <p:ph idx="2" type="body"/>
          </p:nvPr>
        </p:nvSpPr>
        <p:spPr>
          <a:xfrm>
            <a:off x="5235100" y="1536633"/>
            <a:ext cx="43332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337675" y="593367"/>
            <a:ext cx="923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/>
          <p:nvPr>
            <p:ph type="title"/>
          </p:nvPr>
        </p:nvSpPr>
        <p:spPr>
          <a:xfrm>
            <a:off x="337675" y="740800"/>
            <a:ext cx="3042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106650" lIns="106650" spcFirstLastPara="1" rIns="106650" wrap="square" tIns="1066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2" name="Google Shape;42;p9"/>
          <p:cNvSpPr txBox="1"/>
          <p:nvPr>
            <p:ph idx="1" type="body"/>
          </p:nvPr>
        </p:nvSpPr>
        <p:spPr>
          <a:xfrm>
            <a:off x="337675" y="1852800"/>
            <a:ext cx="3042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43" name="Google Shape;43;p9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531104" y="600200"/>
            <a:ext cx="68985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4953000" y="-167"/>
            <a:ext cx="4953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06650" lIns="106650" spcFirstLastPara="1" rIns="106650" wrap="square" tIns="1066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1"/>
          <p:cNvSpPr txBox="1"/>
          <p:nvPr>
            <p:ph type="title"/>
          </p:nvPr>
        </p:nvSpPr>
        <p:spPr>
          <a:xfrm>
            <a:off x="287625" y="1644233"/>
            <a:ext cx="43824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06650" lIns="106650" spcFirstLastPara="1" rIns="106650" wrap="square" tIns="1066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900"/>
              <a:buNone/>
              <a:defRPr sz="4900"/>
            </a:lvl9pPr>
          </a:lstStyle>
          <a:p/>
        </p:txBody>
      </p:sp>
      <p:sp>
        <p:nvSpPr>
          <p:cNvPr id="50" name="Google Shape;50;p11"/>
          <p:cNvSpPr txBox="1"/>
          <p:nvPr>
            <p:ph idx="1" type="subTitle"/>
          </p:nvPr>
        </p:nvSpPr>
        <p:spPr>
          <a:xfrm>
            <a:off x="287625" y="3737433"/>
            <a:ext cx="43824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1" name="Google Shape;51;p11"/>
          <p:cNvSpPr txBox="1"/>
          <p:nvPr>
            <p:ph idx="2" type="body"/>
          </p:nvPr>
        </p:nvSpPr>
        <p:spPr>
          <a:xfrm>
            <a:off x="5351125" y="965433"/>
            <a:ext cx="41568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-3619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" type="body"/>
          </p:nvPr>
        </p:nvSpPr>
        <p:spPr>
          <a:xfrm>
            <a:off x="337675" y="5640767"/>
            <a:ext cx="64986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</a:lstStyle>
          <a:p/>
        </p:txBody>
      </p:sp>
      <p:sp>
        <p:nvSpPr>
          <p:cNvPr id="55" name="Google Shape;55;p12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/>
          <p:nvPr>
            <p:ph hasCustomPrompt="1" type="title"/>
          </p:nvPr>
        </p:nvSpPr>
        <p:spPr>
          <a:xfrm>
            <a:off x="337675" y="1474833"/>
            <a:ext cx="92307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06650" lIns="106650" spcFirstLastPara="1" rIns="106650" wrap="square" tIns="1066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/>
          <p:nvPr>
            <p:ph idx="1" type="body"/>
          </p:nvPr>
        </p:nvSpPr>
        <p:spPr>
          <a:xfrm>
            <a:off x="337675" y="4202967"/>
            <a:ext cx="92307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-36195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/>
            </a:lvl1pPr>
            <a:lvl2pPr indent="-3302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37675" y="593367"/>
            <a:ext cx="923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37675" y="1536633"/>
            <a:ext cx="923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06650" lIns="106650" spcFirstLastPara="1" rIns="106650" wrap="square" tIns="106650">
            <a:norm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Char char="●"/>
              <a:defRPr b="0" i="0" sz="2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■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■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○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■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9178496" y="6217622"/>
            <a:ext cx="5943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image" Target="../media/image27.png"/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midprj.duckdsn.org:11434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Relationship Id="rId4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8" y="0"/>
            <a:ext cx="9904412" cy="4437063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0" y="4500563"/>
            <a:ext cx="9906000" cy="769800"/>
          </a:xfrm>
          <a:prstGeom prst="rect">
            <a:avLst/>
          </a:prstGeom>
          <a:noFill/>
          <a:ln>
            <a:noFill/>
          </a:ln>
          <a:effectLst>
            <a:outerShdw rotWithShape="0" algn="ctr" dir="2700000" dist="35921">
              <a:schemeClr val="lt1"/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RFP 분석을 위한 지능형 RAG시스템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(코드잇 6기 1팀)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2082800" y="5695950"/>
            <a:ext cx="573405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2026년 02월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906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/>
          <p:nvPr/>
        </p:nvSpPr>
        <p:spPr>
          <a:xfrm>
            <a:off x="688975" y="433388"/>
            <a:ext cx="8502650" cy="792162"/>
          </a:xfrm>
          <a:prstGeom prst="rect">
            <a:avLst/>
          </a:prstGeom>
          <a:noFill/>
          <a:ln>
            <a:noFill/>
          </a:ln>
          <a:effectLst>
            <a:outerShdw rotWithShape="0" algn="ctr" dir="2700000" dist="35921">
              <a:srgbClr val="0E1525"/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n-US" sz="4400" u="none" cap="none" strike="noStrike">
                <a:solidFill>
                  <a:schemeClr val="lt1"/>
                </a:solidFill>
                <a:latin typeface="Carme"/>
                <a:ea typeface="Carme"/>
                <a:cs typeface="Carme"/>
                <a:sym typeface="Carme"/>
              </a:rPr>
              <a:t>INDEX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1406814" y="1425575"/>
            <a:ext cx="7099200" cy="747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0066FF"/>
              </a:gs>
              <a:gs pos="100000">
                <a:srgbClr val="002F76"/>
              </a:gs>
            </a:gsLst>
            <a:lin ang="5400000" scaled="0"/>
          </a:gradFill>
          <a:ln cap="flat" cmpd="sng" w="63500">
            <a:solidFill>
              <a:srgbClr val="CCE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   1. 개요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1406864" y="2434749"/>
            <a:ext cx="7099200" cy="7461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0066FF"/>
              </a:gs>
              <a:gs pos="100000">
                <a:srgbClr val="002F76"/>
              </a:gs>
            </a:gsLst>
            <a:lin ang="5400012" scaled="0"/>
          </a:gradFill>
          <a:ln cap="flat" cmpd="sng" w="63500">
            <a:solidFill>
              <a:srgbClr val="CCE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   2. 개발 전략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1406864" y="3442423"/>
            <a:ext cx="7099200" cy="747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0066FF"/>
              </a:gs>
              <a:gs pos="100000">
                <a:srgbClr val="002F76"/>
              </a:gs>
            </a:gsLst>
            <a:lin ang="5400012" scaled="0"/>
          </a:gradFill>
          <a:ln cap="flat" cmpd="sng" w="63500">
            <a:solidFill>
              <a:srgbClr val="CCE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   3. 개발 경과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1406864" y="4451596"/>
            <a:ext cx="7099200" cy="747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0066FF"/>
              </a:gs>
              <a:gs pos="100000">
                <a:srgbClr val="002F76"/>
              </a:gs>
            </a:gsLst>
            <a:lin ang="5400012" scaled="0"/>
          </a:gradFill>
          <a:ln cap="flat" cmpd="sng" w="63500">
            <a:solidFill>
              <a:srgbClr val="CCE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   4. 시연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1406864" y="5460770"/>
            <a:ext cx="7099200" cy="747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0066FF"/>
              </a:gs>
              <a:gs pos="100000">
                <a:srgbClr val="002F76"/>
              </a:gs>
            </a:gsLst>
            <a:lin ang="5400012" scaled="0"/>
          </a:gradFill>
          <a:ln cap="flat" cmpd="sng" w="63500">
            <a:solidFill>
              <a:srgbClr val="CCE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800" lIns="90000" spcFirstLastPara="1" rIns="90000" wrap="square" tIns="46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   5. 회고 및 향후 과제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idx="4294967295" type="title"/>
          </p:nvPr>
        </p:nvSpPr>
        <p:spPr>
          <a:xfrm>
            <a:off x="180975" y="0"/>
            <a:ext cx="89154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2800">
                <a:solidFill>
                  <a:schemeClr val="lt1"/>
                </a:solidFill>
              </a:rPr>
              <a:t>개요</a:t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6" name="Google Shape;86;p16"/>
          <p:cNvGraphicFramePr/>
          <p:nvPr/>
        </p:nvGraphicFramePr>
        <p:xfrm>
          <a:off x="285750" y="714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310700"/>
              </a:tblGrid>
              <a:tr h="298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1. 시스템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목표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822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/>
                        <a:t>공공 기관 RFP 문서를 분석하여 사용자로 자연어로 질의시 문서를 분석하여 결과를 제공</a:t>
                      </a:r>
                      <a:r>
                        <a:rPr b="0" i="0" lang="en-US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sz="1000" u="none" cap="none" strike="noStrike"/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/>
                        <a:t>기존의 Database를 기반으로 하는 경우 자연어 보다는 날짜, 예산, 키워드 매칭으로만 정형화된 질의만 응답만 제공되는 것을 넘어서는 서비스 </a:t>
                      </a:r>
                      <a:endParaRPr sz="1000" u="none" cap="none" strike="noStrike"/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8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시스템 개발 환경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948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2"/>
                          </a:solidFill>
                        </a:rPr>
                        <a:t>openai  서비스 : </a:t>
                      </a:r>
                      <a:r>
                        <a:rPr lang="en-US" sz="1000" u="none" cap="none" strike="noStrike">
                          <a:solidFill>
                            <a:schemeClr val="dk2"/>
                          </a:solidFill>
                          <a:highlight>
                            <a:srgbClr val="FFFFFF"/>
                          </a:highlight>
                        </a:rPr>
                        <a:t>llm model:  gpt-5-mini, embedding model:  text-embedding-3-small 제공.(유료 인터넷 서비스)</a:t>
                      </a:r>
                      <a:endParaRPr sz="1000" u="none" cap="none" strike="noStrike">
                        <a:solidFill>
                          <a:schemeClr val="dk2"/>
                        </a:solidFill>
                        <a:highlight>
                          <a:srgbClr val="FFFFFF"/>
                        </a:highlight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/>
                        <a:t>GCP제공 : 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      ▪ region : iowa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      ▪ CPU : g2-standard (vCpu : 4, Memory : 16GB) x 1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      ▪ GPU : L4 x 1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      ▪ Ollama 서비스 : 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llm model: exaone3.5:7.8b, embedding model: bge-m3 (설치 운영)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     </a:t>
                      </a:r>
                      <a:endParaRPr sz="1000" u="none" cap="none" strike="noStrike">
                        <a:solidFill>
                          <a:schemeClr val="dk1"/>
                        </a:solidFill>
                        <a:highlight>
                          <a:srgbClr val="FFFFFF"/>
                        </a:highlight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/>
                        <a:t>개발Tool : vscode/python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8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개발 및 시스템 구성 방안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8827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인터넷 서비스 사용 구성 방안 : 데이터 전처리/임베딩/응답을 openai가 제공되는 서비스를 이용한다.</a:t>
                      </a:r>
                      <a:endParaRPr sz="1000" u="none" cap="none" strike="noStrike">
                        <a:solidFill>
                          <a:schemeClr val="dk1"/>
                        </a:solidFill>
                        <a:highlight>
                          <a:srgbClr val="FFFFFF"/>
                        </a:highlight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온프레스미 : ollama 서비스를 이용해서 임베딩/응답을 처리 한다.(GCP이용)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한글 파일 처리는 한글api를 이용한 pdf변환 이용. 한글파일을 pdf로 저장 후 분석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pdf의 표나 그림은 미리 openai로 미리 요약하여 txt파일로 저장 후 vector생성이 이용.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로컬 database를 이용, 질의 응답/평가 등에 이용.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8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Noto Sans Symbols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시스템의 특장점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17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실무에서 바로 사용하는 것으로 구현하는 것을 가정으로 각 기능을 모듈화하여 확장성을 담보하고, 모델구현의 추상화레이어를 두어서 향후에 다른 모델도 추가 용이.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인터넷 서비스 사용과 클라우드 온프레스미 사용을 선택적으로 사용.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평가 함수와 스크립트를 제공해서 최적의 옵션 값을 평가 가능토록 함.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SQLite를 이용한 vector저장 및 메타정보 저장으로 질의/응답에 hybrid 로 응답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전처리로 domain/keyword등을 미리 분석.</a:t>
                      </a:r>
                      <a:endParaRPr b="0" i="0" sz="10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2</a:t>
            </a: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2800">
                <a:solidFill>
                  <a:schemeClr val="lt1"/>
                </a:solidFill>
              </a:rPr>
              <a:t>개발 전략 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4" name="Google Shape;94;p17"/>
          <p:cNvGraphicFramePr/>
          <p:nvPr/>
        </p:nvGraphicFramePr>
        <p:xfrm>
          <a:off x="269195" y="80542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310700"/>
              </a:tblGrid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1. 전처리/database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hwp 파일의 pdf변경: 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Hancom Office API를 이용한 HWP-&gt;PDF변환</a:t>
                      </a:r>
                      <a:r>
                        <a:rPr i="0" lang="en-US" sz="1000" u="none" cap="none" strike="noStrike">
                          <a:solidFill>
                            <a:schemeClr val="dk1"/>
                          </a:solidFill>
                        </a:rPr>
                        <a:t>.(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같은 파일이름의 pdf로 변경)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/>
                        <a:t>pdf의 표와 그림을 요약하여 같은파일 이름의 txt로 저장.</a:t>
                      </a:r>
                      <a:endParaRPr sz="1000" u="none" cap="none" strike="noStrike"/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/>
                        <a:t>도메인/키워드 추출하여 DB 에 저장. 향후 질의 응답에 사용.</a:t>
                      </a:r>
                      <a:endParaRPr sz="1000" u="none" cap="none" strike="noStrike"/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모델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092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2"/>
                          </a:solidFill>
                        </a:rPr>
                        <a:t>openai/ollama/huggingface : 3가지를 모두 같은 형태로 서비스할 수 있도록 개발.(base model -&gt; 상속)</a:t>
                      </a:r>
                      <a:endParaRPr sz="1000" u="none" cap="none" strike="noStrike">
                        <a:solidFill>
                          <a:schemeClr val="dk2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openai  : 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llm model:  gpt-5-mini, embedding model:  text-embedding-3-small</a:t>
                      </a:r>
                      <a:endParaRPr sz="1000" u="none" cap="none" strike="noStrike">
                        <a:solidFill>
                          <a:schemeClr val="dk1"/>
                        </a:solidFill>
                        <a:highlight>
                          <a:srgbClr val="FFFFFF"/>
                        </a:highlight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Ollama 서비스 : llm model: exaone3.5:7.8b, embedding model: bge-m3</a:t>
                      </a:r>
                      <a:endParaRPr sz="1000" u="none" cap="none" strike="noStrike">
                        <a:solidFill>
                          <a:schemeClr val="dk1"/>
                        </a:solidFill>
                        <a:highlight>
                          <a:srgbClr val="FFFFFF"/>
                        </a:highlight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hugging face : llm model :  nlpai-lab/KULLM3 , embedding model : nlpai-lab/KoE5</a:t>
                      </a:r>
                      <a:endParaRPr sz="1000" u="none" cap="none" strike="noStrike">
                        <a:solidFill>
                          <a:schemeClr val="dk1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retriever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99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bm25, vector, hybrid, llm, bm25_llm, vector_llm, hybrid_llm 종류로 구현.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Noto Sans Symbols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reranker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472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bge,dense,openapi,ollama,hybrid 종류로 구현.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4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Noto Sans Symbols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5. 웹서비스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472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reflex 프레임웍 사용.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5" name="Google Shape;95;p17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2260649" y="2770550"/>
            <a:ext cx="4046400" cy="3182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0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7740508" y="1627639"/>
            <a:ext cx="1551900" cy="5925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0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gpt-5-mini, </a:t>
            </a:r>
            <a:endParaRPr b="0" i="0" sz="800" u="none" cap="none" strike="noStrik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text-embedding-3-small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7748663" y="4401214"/>
            <a:ext cx="1047000" cy="914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0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exaone3.5:7.8b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bge-m3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8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3.1. 시스템 요약 </a:t>
            </a:r>
            <a:r>
              <a:rPr lang="en-US" sz="1000">
                <a:solidFill>
                  <a:schemeClr val="lt1"/>
                </a:solidFill>
              </a:rPr>
              <a:t>&lt;  3.개발 경과 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2680408" y="2909800"/>
            <a:ext cx="914400" cy="1944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5825" lIns="95825" spcFirstLastPara="1" rIns="95825" wrap="square" tIns="958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838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preprocess</a:t>
            </a:r>
            <a:endParaRPr b="0" i="0" sz="838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2680408" y="3747623"/>
            <a:ext cx="9144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model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2680408" y="3190674"/>
            <a:ext cx="9144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9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5825" lIns="95825" spcFirstLastPara="1" rIns="95825" wrap="square" tIns="958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9"/>
              <a:buFont typeface="Arial"/>
              <a:buNone/>
            </a:pPr>
            <a:r>
              <a:rPr b="0" i="0" lang="en-US" sz="838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retriever</a:t>
            </a:r>
            <a:endParaRPr b="0" i="0" sz="838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2680408" y="3469148"/>
            <a:ext cx="9144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reranker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9" name="Google Shape;109;p18"/>
          <p:cNvSpPr/>
          <p:nvPr/>
        </p:nvSpPr>
        <p:spPr>
          <a:xfrm>
            <a:off x="2680408" y="4026097"/>
            <a:ext cx="9144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history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36289" y="4611639"/>
            <a:ext cx="416400" cy="41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7112" y="4704839"/>
            <a:ext cx="512200" cy="512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" name="Google Shape;112;p18"/>
          <p:cNvCxnSpPr>
            <a:stCxn id="105" idx="1"/>
            <a:endCxn id="111" idx="0"/>
          </p:cNvCxnSpPr>
          <p:nvPr/>
        </p:nvCxnSpPr>
        <p:spPr>
          <a:xfrm flipH="1">
            <a:off x="803308" y="3007000"/>
            <a:ext cx="1877100" cy="1697700"/>
          </a:xfrm>
          <a:prstGeom prst="bentConnector2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pic>
        <p:nvPicPr>
          <p:cNvPr id="113" name="Google Shape;11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86323" y="1633051"/>
            <a:ext cx="485251" cy="485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322186" y="1730725"/>
            <a:ext cx="381912" cy="3819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82391" y="4188389"/>
            <a:ext cx="381900" cy="38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574283" y="1716276"/>
            <a:ext cx="393300" cy="393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7" name="Google Shape;117;p18"/>
          <p:cNvCxnSpPr>
            <a:stCxn id="114" idx="2"/>
            <a:endCxn id="105" idx="0"/>
          </p:cNvCxnSpPr>
          <p:nvPr/>
        </p:nvCxnSpPr>
        <p:spPr>
          <a:xfrm flipH="1" rot="-5400000">
            <a:off x="2426892" y="2198887"/>
            <a:ext cx="797100" cy="624600"/>
          </a:xfrm>
          <a:prstGeom prst="bentConnector3">
            <a:avLst>
              <a:gd fmla="val 50004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8" name="Google Shape;118;p18"/>
          <p:cNvCxnSpPr>
            <a:stCxn id="113" idx="2"/>
            <a:endCxn id="105" idx="0"/>
          </p:cNvCxnSpPr>
          <p:nvPr/>
        </p:nvCxnSpPr>
        <p:spPr>
          <a:xfrm flipH="1" rot="-5400000">
            <a:off x="2737599" y="2509652"/>
            <a:ext cx="791400" cy="8700"/>
          </a:xfrm>
          <a:prstGeom prst="bentConnector3">
            <a:avLst>
              <a:gd fmla="val 50006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9" name="Google Shape;119;p18"/>
          <p:cNvCxnSpPr>
            <a:stCxn id="116" idx="2"/>
            <a:endCxn id="105" idx="0"/>
          </p:cNvCxnSpPr>
          <p:nvPr/>
        </p:nvCxnSpPr>
        <p:spPr>
          <a:xfrm rot="5400000">
            <a:off x="3054233" y="2192976"/>
            <a:ext cx="800100" cy="633300"/>
          </a:xfrm>
          <a:prstGeom prst="bentConnector3">
            <a:avLst>
              <a:gd fmla="val 50008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20" name="Google Shape;120;p18"/>
          <p:cNvSpPr/>
          <p:nvPr/>
        </p:nvSpPr>
        <p:spPr>
          <a:xfrm>
            <a:off x="1205573" y="1882139"/>
            <a:ext cx="897600" cy="416400"/>
          </a:xfrm>
          <a:prstGeom prst="wedgeRectCallout">
            <a:avLst>
              <a:gd fmla="val 95207" name="adj1"/>
              <a:gd fmla="val 65940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메타 정보 읽기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(도메인/키워드)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18"/>
          <p:cNvCxnSpPr>
            <a:stCxn id="113" idx="3"/>
            <a:endCxn id="116" idx="1"/>
          </p:cNvCxnSpPr>
          <p:nvPr/>
        </p:nvCxnSpPr>
        <p:spPr>
          <a:xfrm>
            <a:off x="3371574" y="1875677"/>
            <a:ext cx="202800" cy="37200"/>
          </a:xfrm>
          <a:prstGeom prst="bentConnector3">
            <a:avLst>
              <a:gd fmla="val 49978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22" name="Google Shape;122;p18"/>
          <p:cNvSpPr/>
          <p:nvPr/>
        </p:nvSpPr>
        <p:spPr>
          <a:xfrm>
            <a:off x="2965973" y="1070489"/>
            <a:ext cx="975000" cy="416400"/>
          </a:xfrm>
          <a:prstGeom prst="wedgeRectCallout">
            <a:avLst>
              <a:gd fmla="val -938" name="adj1"/>
              <a:gd fmla="val 140592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한글 키워드 변환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HWP Api이용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170274" y="1745750"/>
            <a:ext cx="360300" cy="360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4" name="Google Shape;124;p18"/>
          <p:cNvCxnSpPr>
            <a:stCxn id="123" idx="2"/>
            <a:endCxn id="105" idx="0"/>
          </p:cNvCxnSpPr>
          <p:nvPr/>
        </p:nvCxnSpPr>
        <p:spPr>
          <a:xfrm rot="5400000">
            <a:off x="3342124" y="1901450"/>
            <a:ext cx="803700" cy="1212900"/>
          </a:xfrm>
          <a:prstGeom prst="bentConnector3">
            <a:avLst>
              <a:gd fmla="val 50003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25" name="Google Shape;125;p18"/>
          <p:cNvCxnSpPr>
            <a:stCxn id="116" idx="3"/>
            <a:endCxn id="123" idx="1"/>
          </p:cNvCxnSpPr>
          <p:nvPr/>
        </p:nvCxnSpPr>
        <p:spPr>
          <a:xfrm>
            <a:off x="3967583" y="1912926"/>
            <a:ext cx="202800" cy="12900"/>
          </a:xfrm>
          <a:prstGeom prst="bentConnector3">
            <a:avLst>
              <a:gd fmla="val 49973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26" name="Google Shape;126;p18"/>
          <p:cNvSpPr/>
          <p:nvPr/>
        </p:nvSpPr>
        <p:spPr>
          <a:xfrm>
            <a:off x="3983378" y="1078034"/>
            <a:ext cx="1377300" cy="416400"/>
          </a:xfrm>
          <a:prstGeom prst="wedgeRectCallout">
            <a:avLst>
              <a:gd fmla="val -45867" name="adj1"/>
              <a:gd fmla="val 143751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표/그림 요약 저장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openai 이용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1140207" y="2444579"/>
            <a:ext cx="897600" cy="416400"/>
          </a:xfrm>
          <a:prstGeom prst="wedgeRectCallout">
            <a:avLst>
              <a:gd fmla="val 33962" name="adj1"/>
              <a:gd fmla="val 77052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메타 정보 저장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(도메인/키워드)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8"/>
          <p:cNvSpPr txBox="1"/>
          <p:nvPr/>
        </p:nvSpPr>
        <p:spPr>
          <a:xfrm>
            <a:off x="8149285" y="1397198"/>
            <a:ext cx="6216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8"/>
          <p:cNvSpPr txBox="1"/>
          <p:nvPr/>
        </p:nvSpPr>
        <p:spPr>
          <a:xfrm>
            <a:off x="8118771" y="4181887"/>
            <a:ext cx="6216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GCP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785112" y="1448145"/>
            <a:ext cx="416400" cy="3572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8"/>
          <p:cNvSpPr txBox="1"/>
          <p:nvPr/>
        </p:nvSpPr>
        <p:spPr>
          <a:xfrm>
            <a:off x="8196673" y="4719196"/>
            <a:ext cx="6216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ollama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" name="Google Shape;132;p18"/>
          <p:cNvCxnSpPr>
            <a:stCxn id="102" idx="1"/>
            <a:endCxn id="133" idx="3"/>
          </p:cNvCxnSpPr>
          <p:nvPr/>
        </p:nvCxnSpPr>
        <p:spPr>
          <a:xfrm flipH="1">
            <a:off x="6035008" y="1923889"/>
            <a:ext cx="1705500" cy="1639500"/>
          </a:xfrm>
          <a:prstGeom prst="bentConnector3">
            <a:avLst>
              <a:gd fmla="val 49996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34" name="Google Shape;134;p18"/>
          <p:cNvCxnSpPr>
            <a:stCxn id="103" idx="1"/>
            <a:endCxn id="133" idx="3"/>
          </p:cNvCxnSpPr>
          <p:nvPr/>
        </p:nvCxnSpPr>
        <p:spPr>
          <a:xfrm rot="10800000">
            <a:off x="6035063" y="3563464"/>
            <a:ext cx="1713600" cy="1295100"/>
          </a:xfrm>
          <a:prstGeom prst="bentConnector3">
            <a:avLst>
              <a:gd fmla="val 4999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35" name="Google Shape;135;p18"/>
          <p:cNvSpPr/>
          <p:nvPr/>
        </p:nvSpPr>
        <p:spPr>
          <a:xfrm>
            <a:off x="4929698" y="2118290"/>
            <a:ext cx="1377300" cy="485400"/>
          </a:xfrm>
          <a:prstGeom prst="wedgeRectCallout">
            <a:avLst>
              <a:gd fmla="val -32840" name="adj1"/>
              <a:gd fmla="val 208856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옵션에 따라서 openai/ollama 사용가능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하도록 한다. 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4574451" y="3366804"/>
            <a:ext cx="1460700" cy="3933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llm selector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36" name="Google Shape;136;p18"/>
          <p:cNvCxnSpPr>
            <a:stCxn id="133" idx="1"/>
            <a:endCxn id="106" idx="3"/>
          </p:cNvCxnSpPr>
          <p:nvPr/>
        </p:nvCxnSpPr>
        <p:spPr>
          <a:xfrm flipH="1">
            <a:off x="3594951" y="3563454"/>
            <a:ext cx="979500" cy="280200"/>
          </a:xfrm>
          <a:prstGeom prst="bentConnector3">
            <a:avLst>
              <a:gd fmla="val 5000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37" name="Google Shape;137;p18"/>
          <p:cNvCxnSpPr>
            <a:stCxn id="133" idx="1"/>
            <a:endCxn id="107" idx="3"/>
          </p:cNvCxnSpPr>
          <p:nvPr/>
        </p:nvCxnSpPr>
        <p:spPr>
          <a:xfrm rot="10800000">
            <a:off x="3594951" y="3286554"/>
            <a:ext cx="979500" cy="276900"/>
          </a:xfrm>
          <a:prstGeom prst="bentConnector3">
            <a:avLst>
              <a:gd fmla="val 5000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38" name="Google Shape;138;p18"/>
          <p:cNvCxnSpPr>
            <a:stCxn id="133" idx="1"/>
            <a:endCxn id="108" idx="3"/>
          </p:cNvCxnSpPr>
          <p:nvPr/>
        </p:nvCxnSpPr>
        <p:spPr>
          <a:xfrm flipH="1">
            <a:off x="3594951" y="3563454"/>
            <a:ext cx="979500" cy="1800"/>
          </a:xfrm>
          <a:prstGeom prst="bentConnector3">
            <a:avLst>
              <a:gd fmla="val 5000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39" name="Google Shape;139;p18"/>
          <p:cNvCxnSpPr>
            <a:stCxn id="133" idx="1"/>
            <a:endCxn id="105" idx="3"/>
          </p:cNvCxnSpPr>
          <p:nvPr/>
        </p:nvCxnSpPr>
        <p:spPr>
          <a:xfrm rot="10800000">
            <a:off x="3594951" y="3006954"/>
            <a:ext cx="979500" cy="556500"/>
          </a:xfrm>
          <a:prstGeom prst="bentConnector3">
            <a:avLst>
              <a:gd fmla="val 5000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40" name="Google Shape;140;p18"/>
          <p:cNvCxnSpPr>
            <a:stCxn id="107" idx="1"/>
            <a:endCxn id="111" idx="0"/>
          </p:cNvCxnSpPr>
          <p:nvPr/>
        </p:nvCxnSpPr>
        <p:spPr>
          <a:xfrm flipH="1">
            <a:off x="803308" y="3286674"/>
            <a:ext cx="1877100" cy="1418100"/>
          </a:xfrm>
          <a:prstGeom prst="bentConnector2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41" name="Google Shape;141;p18"/>
          <p:cNvSpPr/>
          <p:nvPr/>
        </p:nvSpPr>
        <p:spPr>
          <a:xfrm>
            <a:off x="856475" y="3429000"/>
            <a:ext cx="1316100" cy="416400"/>
          </a:xfrm>
          <a:prstGeom prst="wedgeRectCallout">
            <a:avLst>
              <a:gd fmla="val 17696" name="adj1"/>
              <a:gd fmla="val -75805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임베딩/chunk/overlap에 따른 cache저장/로드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2680408" y="4583045"/>
            <a:ext cx="9117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evaluation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3940983" y="3999999"/>
            <a:ext cx="1551900" cy="194400"/>
          </a:xfrm>
          <a:prstGeom prst="wedgeRectCallout">
            <a:avLst>
              <a:gd fmla="val -74803" name="adj1"/>
              <a:gd fmla="val -116126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openai/ollama/hf 모델 구현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4013983" y="4254347"/>
            <a:ext cx="1316100" cy="251700"/>
          </a:xfrm>
          <a:prstGeom prst="wedgeRectCallout">
            <a:avLst>
              <a:gd fmla="val -81649" name="adj1"/>
              <a:gd fmla="val -74921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세션 질의 history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3940983" y="4565998"/>
            <a:ext cx="1316100" cy="251700"/>
          </a:xfrm>
          <a:prstGeom prst="wedgeRectCallout">
            <a:avLst>
              <a:gd fmla="val -71395" name="adj1"/>
              <a:gd fmla="val -23667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평가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649" y="5604554"/>
            <a:ext cx="433200" cy="593296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2768497" y="5992282"/>
            <a:ext cx="14913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RAG process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18"/>
          <p:cNvCxnSpPr>
            <a:stCxn id="142" idx="1"/>
            <a:endCxn id="111" idx="3"/>
          </p:cNvCxnSpPr>
          <p:nvPr/>
        </p:nvCxnSpPr>
        <p:spPr>
          <a:xfrm flipH="1">
            <a:off x="1059208" y="4679045"/>
            <a:ext cx="1621200" cy="282000"/>
          </a:xfrm>
          <a:prstGeom prst="bentConnector3">
            <a:avLst>
              <a:gd fmla="val 49997" name="adj1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49" name="Google Shape;149;p18"/>
          <p:cNvSpPr/>
          <p:nvPr/>
        </p:nvSpPr>
        <p:spPr>
          <a:xfrm>
            <a:off x="385749" y="5439150"/>
            <a:ext cx="1579200" cy="416400"/>
          </a:xfrm>
          <a:prstGeom prst="wedgeRectCallout">
            <a:avLst>
              <a:gd fmla="val 34914" name="adj1"/>
              <a:gd fmla="val -147190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평가 질의/응답/스코어 저장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8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시스템 구성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2680408" y="4304571"/>
            <a:ext cx="9117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2" name="Google Shape;152;p18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2680408" y="4861519"/>
            <a:ext cx="9117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util module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" name="Google Shape;154;p18"/>
          <p:cNvSpPr/>
          <p:nvPr/>
        </p:nvSpPr>
        <p:spPr>
          <a:xfrm>
            <a:off x="2680408" y="5139994"/>
            <a:ext cx="911700" cy="192000"/>
          </a:xfrm>
          <a:prstGeom prst="roundRect">
            <a:avLst>
              <a:gd fmla="val 16667" name="adj"/>
            </a:avLst>
          </a:prstGeom>
          <a:solidFill>
            <a:srgbClr val="3C78D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reflex</a:t>
            </a:r>
            <a:endParaRPr b="0" i="0" sz="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5" name="Google Shape;155;p18"/>
          <p:cNvSpPr/>
          <p:nvPr/>
        </p:nvSpPr>
        <p:spPr>
          <a:xfrm>
            <a:off x="3940983" y="5189298"/>
            <a:ext cx="1316100" cy="251700"/>
          </a:xfrm>
          <a:prstGeom prst="wedgeRectCallout">
            <a:avLst>
              <a:gd fmla="val -71395" name="adj1"/>
              <a:gd fmla="val -23667" name="adj2"/>
            </a:avLst>
          </a:prstGeom>
          <a:noFill/>
          <a:ln cap="flat" cmpd="sng" w="12700">
            <a:solidFill>
              <a:srgbClr val="44969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 인터넷 서비스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9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3.2.1. 전처리 개요 </a:t>
            </a:r>
            <a:r>
              <a:rPr lang="en-US" sz="1000">
                <a:solidFill>
                  <a:schemeClr val="lt1"/>
                </a:solidFill>
              </a:rPr>
              <a:t>&lt;  3.2. 환경 및 전처리 &lt;  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2" name="Google Shape;162;p19"/>
          <p:cNvGraphicFramePr/>
          <p:nvPr/>
        </p:nvGraphicFramePr>
        <p:xfrm>
          <a:off x="285750" y="714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310700"/>
              </a:tblGrid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1. 환경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GCP 기반 환경 구축.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Openai 기반 환경.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2. 전처리/database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hwp 파일의 pdf변경: 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Hancom Office API를 이용한 HWP-&gt;PDF변환</a:t>
                      </a:r>
                      <a:r>
                        <a:rPr i="0" lang="en-US" sz="1000" u="none" cap="none" strike="noStrike">
                          <a:solidFill>
                            <a:schemeClr val="dk1"/>
                          </a:solidFill>
                        </a:rPr>
                        <a:t>.(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같은 파일이름의 pdf로 변경)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/>
                        <a:t>pdf의 표와 그림을 요약하여 같은파일 이름의 txt로 저장.</a:t>
                      </a:r>
                      <a:endParaRPr sz="1000" u="none" cap="none" strike="noStrike"/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/>
                        <a:t>도메인/키워드 추출하여 DB 에 저장. 향후 질의 응답에 사용.</a:t>
                      </a:r>
                      <a:endParaRPr sz="1000" u="none" cap="none" strike="noStrike"/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3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HWP -&gt; PDF 저장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0925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2"/>
                          </a:solidFill>
                        </a:rPr>
                        <a:t>같은 디렉토리에 hwp를 pdf를 저장.</a:t>
                      </a:r>
                      <a:endParaRPr sz="1000" u="none" cap="none" strike="noStrike">
                        <a:solidFill>
                          <a:schemeClr val="dk2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Hancom Office API를 이용해서 저장.</a:t>
                      </a:r>
                      <a:endParaRPr sz="1000" u="none" cap="none" strike="noStrike">
                        <a:solidFill>
                          <a:schemeClr val="dk1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 </a:t>
                      </a: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Table/Figure 요약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99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Openai를 이용해서 table/figure 를 요약해서 txt 파일로 저장.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3" name="Google Shape;163;p19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0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3.2.2. 개발 및 운영 환경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0" name="Google Shape;170;p20"/>
          <p:cNvGraphicFramePr/>
          <p:nvPr/>
        </p:nvGraphicFramePr>
        <p:xfrm>
          <a:off x="285750" y="714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310700"/>
              </a:tblGrid>
              <a:tr h="214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GCP 환경 설정 및 Openai</a:t>
                      </a:r>
                      <a:endParaRPr sz="1200" u="none" cap="none" strike="noStrike"/>
                    </a:p>
                  </a:txBody>
                  <a:tcPr marT="54000" marB="54000" marR="99050" marL="990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GCP(Google Cloud Platform) 인스턴스 내 Ollama 서버 설치 및 운영.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DuckDNS를 이용한 DDNS 설정으로 유동 IP 환경에서도 안정적인 API 엔드포인트 확보.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보안과 비용 효율성을 고려한 'Cloud On-premise' 환경 제공.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openai key제공.(인터넷 서비스로 제공 받음)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14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1" lang="en-US" sz="1200" u="none" cap="none" strike="noStrike">
                          <a:solidFill>
                            <a:schemeClr val="dk1"/>
                          </a:solidFill>
                        </a:rPr>
                        <a:t>요약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800">
                <a:tc>
                  <a:txBody>
                    <a:bodyPr/>
                    <a:lstStyle/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Ollama: 로컬 환경에서 대규모 언어 모델(LLM)을 실행하게 해주는 도구.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Noto Sans Symbols"/>
                        <a:buChar char="✓"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DuckDns : </a:t>
                      </a:r>
                      <a:r>
                        <a:rPr lang="en-US" sz="1000" u="sng" cap="none" strike="noStrike">
                          <a:solidFill>
                            <a:schemeClr val="hlink"/>
                          </a:solidFill>
                          <a:hlinkClick r:id="rId3"/>
                        </a:rPr>
                        <a:t>midprj.duckdsn.org:11434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 로 ollama접속 가능.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-165100" lvl="0" marL="177800" marR="0" rtl="0" algn="l">
                        <a:lnSpc>
                          <a:spcPct val="14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Char char="✓"/>
                      </a:pPr>
                      <a:r>
                        <a:rPr lang="en-US" sz="1000" u="none" cap="none" strike="noStrike"/>
                        <a:t>Cloud On-premise: 클라우드 자원을 마치 사내 서버(On-premise)처럼 프라이빗하게 운영한다는 개념.</a:t>
                      </a:r>
                      <a:endParaRPr sz="1000" u="none" cap="none" strike="noStrike"/>
                    </a:p>
                  </a:txBody>
                  <a:tcPr marT="54000" marB="54000" marR="99050" marL="990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4597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71" name="Google Shape;171;p20"/>
          <p:cNvGraphicFramePr/>
          <p:nvPr/>
        </p:nvGraphicFramePr>
        <p:xfrm>
          <a:off x="268300" y="331856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294750"/>
                <a:gridCol w="3094225"/>
                <a:gridCol w="3423400"/>
              </a:tblGrid>
              <a:tr h="255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구분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Ollama (올라마)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vLLM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255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주요 목적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로컬/개인용</a:t>
                      </a: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 쉬운 실행 및 관리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기업형/서버용</a:t>
                      </a: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 고성능 추론 및 서빙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5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난이도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매우 낮음 (설치 즉시 사용)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보통~높음 (Python/CUDA 환경 설정 필요)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5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최적화 기술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GGUF</a:t>
                      </a: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 (양자화 중심, 저사양 최적화)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PagedAttention</a:t>
                      </a: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 (처리량/속도 극대화)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5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리소스 요구량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낮음 (일반 PC, MacBook 가능)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높음 (VRAM이 넉넉한 고성능 GPU 권장)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5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F1F1F"/>
                          </a:solidFill>
                        </a:rPr>
                        <a:t>인터페이스</a:t>
                      </a:r>
                      <a:endParaRPr b="1"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CLI, 자체 API, 다양한 라이브러리 연동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1F1F1F"/>
                          </a:solidFill>
                        </a:rPr>
                        <a:t>OpenAI 호환 API 서버 중심</a:t>
                      </a:r>
                      <a:endParaRPr sz="10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2" name="Google Shape;172;p20"/>
          <p:cNvSpPr txBox="1"/>
          <p:nvPr/>
        </p:nvSpPr>
        <p:spPr>
          <a:xfrm>
            <a:off x="285750" y="2958506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ollama/vLLM 비교시  선정 이유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285750" y="5428650"/>
            <a:ext cx="5770200" cy="9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ollama 쓰는 이유</a:t>
            </a:r>
            <a:endParaRPr b="1" i="1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</a:t>
            </a:r>
            <a:r>
              <a:rPr b="0" i="0" lang="en-US" sz="1000" u="none" cap="none" strike="noStrike">
                <a:solidFill>
                  <a:srgbClr val="1F1F1F"/>
                </a:solidFill>
                <a:latin typeface="Arial"/>
                <a:ea typeface="Arial"/>
                <a:cs typeface="Arial"/>
                <a:sym typeface="Arial"/>
              </a:rPr>
              <a:t>최적화된 실행 환경.(HuggingFace등으로 직접 모델을 구축할 경우, 모든 것을 수동으로 해야함)</a:t>
            </a:r>
            <a:endParaRPr b="0" i="0" sz="1000" u="none" cap="none" strike="noStrike">
              <a:solidFill>
                <a:srgbClr val="1F1F1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양자화 기본 적용.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자원의 공유.(ollama서비스를 하므로 GPU를 여러 사람이 쓰는 효과.)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▪ 보안성과 사내 클라우드나 로컬 네트워크에서 사용 가능.</a:t>
            </a:r>
            <a:endParaRPr b="1" i="1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0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1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3.2.3. 전처리 요약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1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전처리 파이프라인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312212"/>
            <a:ext cx="9601203" cy="216120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3" name="Google Shape;183;p21"/>
          <p:cNvGraphicFramePr/>
          <p:nvPr/>
        </p:nvGraphicFramePr>
        <p:xfrm>
          <a:off x="111025" y="3657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856300"/>
                <a:gridCol w="1482375"/>
                <a:gridCol w="2384400"/>
                <a:gridCol w="3819975"/>
              </a:tblGrid>
              <a:tr h="2000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/>
                        <a:t>Step</a:t>
                      </a:r>
                      <a:endParaRPr b="1"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/>
                        <a:t>Input</a:t>
                      </a:r>
                      <a:endParaRPr b="1"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/>
                        <a:t>Process</a:t>
                      </a:r>
                      <a:endParaRPr b="1"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/>
                        <a:t>Output</a:t>
                      </a:r>
                      <a:endParaRPr b="1"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1. 메타데이터 ETL &amp; 수치 정규화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datalist.csv (입찰 목록 데이터)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한국어 수치(예: "1억") → 표준 숫자(100,000,000)</a:t>
                      </a:r>
                      <a:endParaRPr sz="8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지역/도메인 분류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SQLite rfp_metadata 테이블 저장 (공고번호, 예산, 기관 정보 등)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2. 문서 형식 표준화 (Conversion)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원본 .hwp 파일 (한글 문서)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HWPConverter 활용</a:t>
                      </a:r>
                      <a:endParaRPr sz="8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분석 호환성 확보를 위해 PDF 포맷 변환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분석용 .pdf 파일 생성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3. 지능형 요약 (Analysis &amp; Summary)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변환된 .pdf 파일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OpenAI GPT-5-min 활용</a:t>
                      </a:r>
                      <a:endParaRPr sz="8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비정형 데이터(표, 그림 등) → 자연어 요약문</a:t>
                      </a:r>
                      <a:endParaRPr sz="8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단순 텍스트 추출이 아닌 의미 기반 컨텍스트 요약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요약 결과 (텍스트)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9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4. 결과 저장 및 캐싱 (Output &amp; Caching)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요약 결과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물리 .txt 파일 저장</a:t>
                      </a:r>
                      <a:endParaRPr sz="8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- RAG 검색 참조용 캐싱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최종 .txt 파일</a:t>
                      </a:r>
                      <a:endParaRPr sz="8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84" name="Google Shape;184;p21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3.2.4. 전처리 통계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파일 통계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2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id="193" name="Google Shape;19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650" y="1357387"/>
            <a:ext cx="9310700" cy="4143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3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3.2.4. 전처리 통계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3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문서 길이 및 교 개수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3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id="202" name="Google Shape;20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259" y="1458176"/>
            <a:ext cx="4986856" cy="2192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0073" y="3840097"/>
            <a:ext cx="4879042" cy="2415956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3"/>
          <p:cNvSpPr txBox="1"/>
          <p:nvPr/>
        </p:nvSpPr>
        <p:spPr>
          <a:xfrm>
            <a:off x="5582280" y="3964135"/>
            <a:ext cx="2667428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블록기반의 계산이 아닌 테이블 파서 기반으로 계산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격자구조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라인감지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셀 경계 탐지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이는 RAG에 적합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3"/>
          <p:cNvSpPr txBox="1"/>
          <p:nvPr/>
        </p:nvSpPr>
        <p:spPr>
          <a:xfrm>
            <a:off x="5582280" y="1490008"/>
            <a:ext cx="2667428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본 분석에서는 문서의 텍스트 길이(글자 수)와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문서 내 표 개수를 기준으로 문서의 구조적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복잡도를 평가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문서 길이는 정보 밀도를 간접적으로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나타냄, 표 개수는 정형화된 데이터 구조의 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활용 정도를 의미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상위/하위 문서를 비교함으로써 문서 간 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구조적 차이와 내용 규모의 편차를 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시각적으로 파악할 수 있음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3"/>
          <p:cNvSpPr txBox="1"/>
          <p:nvPr/>
        </p:nvSpPr>
        <p:spPr>
          <a:xfrm>
            <a:off x="5582280" y="5287574"/>
            <a:ext cx="2667428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문서 길이와 표 개수는 RAG 시스템에서 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검색 단위의 복잡도를 결정하는 주요 요소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텍스트가 길고 표가 많은 문서는 정보 분해 및 임베딩 시 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세밀한 분할 전략이 필요할 가능성이 높음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4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3.2.4. 전처리 통계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4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벡터 유사도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4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id="215" name="Google Shape;21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631" y="1284340"/>
            <a:ext cx="5759513" cy="4415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23956" y="698415"/>
            <a:ext cx="5821413" cy="1753438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4"/>
          <p:cNvSpPr txBox="1"/>
          <p:nvPr/>
        </p:nvSpPr>
        <p:spPr>
          <a:xfrm>
            <a:off x="3932834" y="4836146"/>
            <a:ext cx="5511863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문서 임베딩 기반 벡터 유사도를 계산하여 문서 간 의미적 유사성을 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이를 통해 단순 키워드 중복이 아닌 문서 내용 수준에서의 유사 관계를 파악할 수 있음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유사도 네트워크 그래프에서 각 노드는 문서를 의미, 노드를 연결하는 엣지는 유사도 임계값(0.8) 이상인 문서 간 관계를 나타냄.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유사도 1.0에 가까운 문서는 거의 동일한 문서 또는 복사본으로 판단,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 시스템에서는 중복 제거 대상 후보로 분류되나 공고번호가 다르면 제거 하지 않음.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3.2.4. 전처리 통계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도메인/키워드 통계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25" name="Google Shape;225;p25"/>
          <p:cNvGraphicFramePr/>
          <p:nvPr/>
        </p:nvGraphicFramePr>
        <p:xfrm>
          <a:off x="180975" y="124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52500"/>
                <a:gridCol w="4267200"/>
              </a:tblGrid>
              <a:tr h="170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/>
                        <a:t>분야</a:t>
                      </a:r>
                      <a:endParaRPr b="1"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/>
                        <a:t>주요 키워드</a:t>
                      </a:r>
                      <a:endParaRPr b="1"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과학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과학, 과학기술, R&amp;D, 연구개발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IT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AI, HW, SW, 정보기술, 클라우드, 빅데이터, IoT, 데이터, 보안, 소프트웨어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건설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공사, 토목, 건설, 건축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의료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제약, 보건, 의약, 병원, 의료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교육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대학, 연수, 교육, 학교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환경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친환경, 에너지, 환경, 신재생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문화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예술, 문화, 관광, 체육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복지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사회복지, 복지시설, 복지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국방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방위, 군사, 국방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통신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/>
                        <a:t>6G, 통신, 네트워크, 5G</a:t>
                      </a:r>
                      <a:endParaRPr sz="8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226" name="Google Shape;22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3388125"/>
            <a:ext cx="7188200" cy="305718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5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3.2.4. 전처리 통계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6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지역별 도메인 통계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" name="Google Shape;23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312212"/>
            <a:ext cx="9601200" cy="4930346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6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3.2.4. 전처리 통계 </a:t>
            </a:r>
            <a:r>
              <a:rPr lang="en-US" sz="1000">
                <a:solidFill>
                  <a:schemeClr val="lt1"/>
                </a:solidFill>
              </a:rPr>
              <a:t>&lt; 3.2. 환경 및 전처리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7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예산별 도메인 통계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312212"/>
            <a:ext cx="9601199" cy="4720187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7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8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3.3. 서비스 구현 </a:t>
            </a:r>
            <a:r>
              <a:rPr lang="en-US" sz="1000">
                <a:solidFill>
                  <a:schemeClr val="lt1"/>
                </a:solidFill>
              </a:rPr>
              <a:t>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2" name="Google Shape;25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7803" y="1669625"/>
            <a:ext cx="4432876" cy="355842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8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모델 질의-응답 파이프 라인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54" name="Google Shape;254;p28"/>
          <p:cNvGraphicFramePr/>
          <p:nvPr/>
        </p:nvGraphicFramePr>
        <p:xfrm>
          <a:off x="5160363" y="11263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96825"/>
                <a:gridCol w="3548400"/>
              </a:tblGrid>
              <a:tr h="101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1F1F1F"/>
                          </a:solidFill>
                        </a:rPr>
                        <a:t>모듈</a:t>
                      </a:r>
                      <a:endParaRPr b="1"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 anchor="ctr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1F1F1F"/>
                          </a:solidFill>
                        </a:rPr>
                        <a:t>종류</a:t>
                      </a:r>
                      <a:endParaRPr b="1"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 anchor="ctr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257400">
                <a:tc rowSpan="3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1F1F1F"/>
                          </a:solidFill>
                        </a:rPr>
                        <a:t>Model</a:t>
                      </a:r>
                      <a:endParaRPr b="1"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 anchor="ctr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openai : gpt-5-mini, text-embedding-3-small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4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Ollama: exaone3.5:7.8b, bge-m3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4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hugging face: nlpai-lab/KULLM3,  nlpai-lab/KoE5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rowSpan="7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1F1F1F"/>
                          </a:solidFill>
                        </a:rPr>
                        <a:t>Retriever</a:t>
                      </a:r>
                      <a:endParaRPr b="1"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 anchor="ctr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bm25: BM25 알고리즘을 사용한 전통적인 키워드 기반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vector: 임베딩 벡터를 활용한 유사도 기반 벡터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hybrid: BM25와 벡터 검색을 결합한 하이브리드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llm: LLM(대형 언어 모델)을 활용한 생성형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bm25_llm": BM25 검색 결과를 LLM으로 후처리하는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vector_ll: 벡터 검색 결과를 LLM으로 후처리하는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6925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chemeClr val="dk1"/>
                          </a:solidFill>
                        </a:rPr>
                        <a:t>hybrid_llm: 하이브리드 검색 결과를 LLM으로 후처리하는 검색기.</a:t>
                      </a:r>
                      <a:endParaRPr sz="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row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1F1F1F"/>
                          </a:solidFill>
                        </a:rPr>
                        <a:t>Reranker</a:t>
                      </a:r>
                      <a:endParaRPr b="1"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 anchor="ctr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bge: BGE Cross-Encoder 모델을 활용한 의미 기반 리랭킹 방식.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dense: 임베딩 벡터 유사도를 이용한 단순 벡터 기반 리랭킹 방식.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OpenAI/Ollama: LLM API(OpenAI 또는 Ollama)를 활용해 문서 관련도를 평가하는 리랭킹 방식.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6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cap="none" strike="noStrike">
                          <a:solidFill>
                            <a:srgbClr val="1F1F1F"/>
                          </a:solidFill>
                        </a:rPr>
                        <a:t>hybrid: BGE와 Dense 결합하여 가중 평균으로 리랭킹하는 하이브리드 방식.</a:t>
                      </a:r>
                      <a:endParaRPr sz="800" u="none" cap="none" strike="noStrike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55" name="Google Shape;255;p28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9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3.3.1. 모델 구현 </a:t>
            </a:r>
            <a:r>
              <a:rPr lang="en-US" sz="1000">
                <a:solidFill>
                  <a:schemeClr val="lt1"/>
                </a:solidFill>
              </a:rPr>
              <a:t>&lt; 3.3.서비스 구현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9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구현 모듈/Class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9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264" name="Google Shape;264;p29"/>
          <p:cNvGraphicFramePr/>
          <p:nvPr/>
        </p:nvGraphicFramePr>
        <p:xfrm>
          <a:off x="180963" y="1159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97350"/>
                <a:gridCol w="1570325"/>
                <a:gridCol w="6091150"/>
              </a:tblGrid>
              <a:tr h="263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분류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구성 요소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주요 역할 및 특징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핵심 구조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BaseLLMModel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모든 모델의 공통 로직(검색, 리랭킹, 생성)을 조율하는 최상위 클래스 및 평가 시스템(eval) 포함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추론 엔진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OpenAIModel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OpenAI API 활용. GPT-5-mini 등 고성능 클라우드 모델을 통해 안정적인 답변 성능 제공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추론 엔진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OllamaModel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로컬 서버 활용. EXAONE3.5 등 오픈소스 모델을 사용해 데이터 보안 및 비용 절감 가능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chemeClr val="dk1"/>
                          </a:solidFill>
                        </a:rPr>
                        <a:t>추론 엔진</a:t>
                      </a:r>
                      <a:endParaRPr b="1"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HugginFaceModel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GPU 환경 직접 구동. KULLM3 등 국산 오픈소스 모델을 활용한 최적화된 한국어 처리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chemeClr val="dk1"/>
                          </a:solidFill>
                        </a:rPr>
                        <a:t>이력 관리</a:t>
                      </a:r>
                      <a:endParaRPr b="1"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35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HistoryManager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세션의 질의/응답에 대한 History를 제공. 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지능형 분석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QueryFilterExtractor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LLM과 정규표현식을 결합하여 질문에서 예산, 기관, 분야 등 검색 필터를 자동 추출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데이터 검색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SQLSearchHelper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단순 문서 검색을 보완하여 SQLite DB로부터 사업명, 금액 등 정형화된 정보를 정확히 조회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3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데이터 검색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SQLiteDB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수집된 모든 사업 공고의 메타데이터 및 검색 결과를 저장하고 관리하는 핵심 DB 모듈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0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3.3.2. retriever </a:t>
            </a:r>
            <a:r>
              <a:rPr lang="en-US" sz="1000">
                <a:solidFill>
                  <a:schemeClr val="lt1"/>
                </a:solidFill>
              </a:rPr>
              <a:t>&lt; 3.3.서비스 구현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0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구현 모듈/Class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0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273" name="Google Shape;273;p30"/>
          <p:cNvGraphicFramePr/>
          <p:nvPr/>
        </p:nvGraphicFramePr>
        <p:xfrm>
          <a:off x="180963" y="1159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440500"/>
                <a:gridCol w="2233425"/>
                <a:gridCol w="5508375"/>
              </a:tblGrid>
              <a:tr h="25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분류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구성 요소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주요 역할 및 특징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257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기본 검색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BM25RetrieverModule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키워드 일치 기반 검색. 특정 단어가 포함된 문서를 찾는 데 효과적이며 연산 속도가 빠름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의미 검색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VectorRetrieverModule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FAISS 임베딩 기반 검색. 단어의 의미적 유사성을 파악하여 문맥에 맞는 문서를 찾아냄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복합 검색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HybridRetriever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BM25와 Vector 검색의 장점을 결합. 가중치(Alpha)를 조절하여 키워드와 의미의 비중을 최적화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지능형 검색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MultiQueryRetriever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LLM을 사용하여 하나의 질문을 여러 개로 재해석(Rewriting). 검색 범위를 넓혀 정답 확률을 높임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통합 모듈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MultiQueryHybridRetrieverModule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위 모든 검색 방식을 포함하는 통합 컨트롤러. 설정에 따라 최적의 검색 알고리즘을 조합하여 생성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7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팩토리 함수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build_retriever_from_param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파라미터 설정을 기반으로 실시간으로 필요한 검색기(Retriever) 객체를 생성하여 반환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1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3.3.3. reranker </a:t>
            </a:r>
            <a:r>
              <a:rPr lang="en-US" sz="1000">
                <a:solidFill>
                  <a:schemeClr val="lt1"/>
                </a:solidFill>
              </a:rPr>
              <a:t>&lt; 3.3.서비스 구현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1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구현 모듈/Class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1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282" name="Google Shape;282;p31"/>
          <p:cNvGraphicFramePr/>
          <p:nvPr/>
        </p:nvGraphicFramePr>
        <p:xfrm>
          <a:off x="180975" y="1159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379775"/>
                <a:gridCol w="1659575"/>
                <a:gridCol w="6201875"/>
              </a:tblGrid>
              <a:tr h="228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분류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구성 요소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주요 역할 및 특징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핵심 클래스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Reranker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리랭킹 로직의 통합 관리 클래스. 중복 제거 및 설정된 타입에 따른 재정렬 프로세스 제어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로컬 리랭킹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_bge_rerank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BGE Cross-Encoder 모델 활용. 로컬 GPU/CPU에서 문장 간 유사도를 정밀하게 계산 (고성능 추천 방식)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유사도 리랭킹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_dense_rerank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임베딩 벡터 간의 코사인 유사도를 기반으로 재정렬. 단순하지만 효율적인 계산 방식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지능형 리랭킹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_llm_rerank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OpenAI/Ollama 등 **LLM이 직접 문서의 관련도를 점수화(0~5점)**하여 가장 유의미한 정보 선별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복합 리랭킹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_hybrid_rerank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BGE(의미론적 분석)와 Dense(벡터 유사도)의 점수를 가중 평균하여 다각도에서 순위 재산출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보조 기능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_deduplicate_docs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리랭킹 수행 전, 본문 내용을 기준으로 중복되거나 중첩되는 문서를 제거하여 콘텍스트 효율화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2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3.3.4. 웹서비스 </a:t>
            </a:r>
            <a:r>
              <a:rPr lang="en-US" sz="1000">
                <a:solidFill>
                  <a:schemeClr val="lt1"/>
                </a:solidFill>
              </a:rPr>
              <a:t>&lt; 3.3.서비스 구현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2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290" name="Google Shape;290;p32"/>
          <p:cNvGraphicFramePr/>
          <p:nvPr/>
        </p:nvGraphicFramePr>
        <p:xfrm>
          <a:off x="329100" y="1376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2063700"/>
                <a:gridCol w="2063700"/>
                <a:gridCol w="2063700"/>
                <a:gridCol w="2063700"/>
              </a:tblGrid>
              <a:tr h="68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항목</a:t>
                      </a:r>
                      <a:endParaRPr b="1"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Streamlit</a:t>
                      </a:r>
                      <a:endParaRPr b="1"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Reflex</a:t>
                      </a:r>
                      <a:endParaRPr b="1"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FastAPI</a:t>
                      </a:r>
                      <a:endParaRPr b="1"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주 용도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데이터 앱, 대시보드 제작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풀스택 웹앱 개발 (프론트+백엔드)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고성능 API 서버 개발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개발 난이도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매우 쉬움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중간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중간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2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프론트엔드 지식 필요 여부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거의 불필요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거의 불필요 (React 기반 자동 생성)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필요 (별도 프론트엔드 개발 필요)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백엔드 제어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제한적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가능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매우 강력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비동기 지원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제한적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지원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강력한 async 지원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성능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보통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보통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매우 우수 (ASGI 기반)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학습 곡선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낮음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중간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중간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배포 방식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Streamlit Cloud 등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자체 서버 또는 클라우드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Uvicorn/Gunicorn 기반 배포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확장성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소규모/프로토타입에 적합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중소규모 웹앱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대규모 서비스에 적합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대표 사용 사례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ML 모델 데모, 데이터 시각화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SaaS 웹앱, 내부관리 시스템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REST API, 마이크로서비스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장점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빠른 개발, 코드 간결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Python만으로 풀스택 가능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속도 빠름, 타입 기반 자동 문서화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단점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복잡한 앱 구조에 한계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생태계가 비교적 작음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프론트엔드 별도 개발 필요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91" name="Google Shape;291;p32"/>
          <p:cNvSpPr txBox="1"/>
          <p:nvPr/>
        </p:nvSpPr>
        <p:spPr>
          <a:xfrm>
            <a:off x="82776" y="4265319"/>
            <a:ext cx="3000000" cy="13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Reflex선정 이유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  ▪ 풀스택을 지원</a:t>
            </a:r>
            <a:endParaRPr b="0" i="0" sz="1000" u="none" cap="none" strike="noStrike">
              <a:solidFill>
                <a:schemeClr val="dk1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  ▪ 프론트엔드 지식 거의 불필요.</a:t>
            </a:r>
            <a:endParaRPr b="0" i="0" sz="1000" u="none" cap="none" strike="noStrike">
              <a:solidFill>
                <a:schemeClr val="dk1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  ▪ 상태 변경시 부분 업데이트 가능.</a:t>
            </a:r>
            <a:endParaRPr b="0" i="0" sz="1000" u="none" cap="none" strike="noStrike">
              <a:solidFill>
                <a:schemeClr val="dk1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highlight>
                <a:schemeClr val="lt1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2" name="Google Shape;292;p32"/>
          <p:cNvSpPr txBox="1"/>
          <p:nvPr/>
        </p:nvSpPr>
        <p:spPr>
          <a:xfrm>
            <a:off x="82776" y="88867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웹서비스 비교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3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3.3.4. 웹서비스 </a:t>
            </a:r>
            <a:r>
              <a:rPr lang="en-US" sz="1000">
                <a:solidFill>
                  <a:schemeClr val="lt1"/>
                </a:solidFill>
              </a:rPr>
              <a:t>&lt; 3.3.서비스 구현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3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구현 모듈/Class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3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301" name="Google Shape;301;p33"/>
          <p:cNvGraphicFramePr/>
          <p:nvPr/>
        </p:nvGraphicFramePr>
        <p:xfrm>
          <a:off x="180975" y="1159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269400"/>
                <a:gridCol w="1220125"/>
                <a:gridCol w="6372150"/>
              </a:tblGrid>
              <a:tr h="140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분류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구성 요소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주요 역할 및 특징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7B7B7"/>
                    </a:solidFill>
                  </a:tcPr>
                </a:tc>
              </a:tr>
              <a:tr h="140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메인 앱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app.py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애플리케이션의 진입점. 전체 레이아웃 구성을 위한 탭 트리거 정의 및 각 페이지 모듈 연결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1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화면 모듈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summary.py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프로젝트 리포트 요약.doc 폴더의 PDF 파일을 Base64로 인코딩하여 반응형 뷰어로 출력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0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화면 모듈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openai.py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OpenAI RAG 검색. 클라우드 LLM을 사용하여 질문에 답변하고, SQLite 메타데이터 검색 옵션 제공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0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3B3B3B"/>
                          </a:solidFill>
                        </a:rPr>
                        <a:t>화면 모듈</a:t>
                      </a:r>
                      <a:endParaRPr b="1"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ollama.py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rgbClr val="3B3B3B"/>
                          </a:solidFill>
                        </a:rPr>
                        <a:t> Ollama 로컬 검색. 로컬에 설치된 LLM(EXAONE 등)을 활용한 질의응답 인터페이스 제공</a:t>
                      </a:r>
                      <a:endParaRPr sz="1000" u="none" cap="none" strike="noStrike">
                        <a:solidFill>
                          <a:srgbClr val="3B3B3B"/>
                        </a:solidFill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02" name="Google Shape;302;p33"/>
          <p:cNvSpPr txBox="1"/>
          <p:nvPr/>
        </p:nvSpPr>
        <p:spPr>
          <a:xfrm>
            <a:off x="84667" y="2376024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웹서비스 파이프라인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3" name="Google Shape;3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9367" y="2703109"/>
            <a:ext cx="6516536" cy="36400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66325" y="5858075"/>
            <a:ext cx="512850" cy="15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4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3.4. 평가 방안 </a:t>
            </a:r>
            <a:r>
              <a:rPr lang="en-US" sz="1000">
                <a:solidFill>
                  <a:schemeClr val="lt1"/>
                </a:solidFill>
              </a:rPr>
              <a:t>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1" name="Google Shape;311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9862" y="1776936"/>
            <a:ext cx="7724775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34"/>
          <p:cNvSpPr txBox="1"/>
          <p:nvPr/>
        </p:nvSpPr>
        <p:spPr>
          <a:xfrm>
            <a:off x="82775" y="790500"/>
            <a:ext cx="3498000" cy="9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평가 방법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방안  : openai llm gpt-5-mini를 이용해서 평가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4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sp>
        <p:nvSpPr>
          <p:cNvPr id="314" name="Google Shape;314;p34"/>
          <p:cNvSpPr txBox="1"/>
          <p:nvPr/>
        </p:nvSpPr>
        <p:spPr>
          <a:xfrm>
            <a:off x="180975" y="4436799"/>
            <a:ext cx="84234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예산이 1억 이상 3억 이하의 제안요구서를 알려 줘.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교육 관련 이면서 IT 관련 제안요구서를 찾아 줘.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이전 질문과 관련해서 콘텐츠 개발 관리 및 모니터링 업무 요구사항을 더 자세히 알려 줘.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국민연금공단 이러닝시스템 관련 사업 요구사항을 정리해 줘.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이전 질문과 관련해서 교육·학습 관련 타 기관 발주 사업이 있는지 알려 줘.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주요 기관(예: 기초과학연구원, 한국원자력연구원) 사업의 AI 예측·사업 목적을 설명해 줘.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50" u="none" cap="none" strike="noStrike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1년 이상의 사업 기간이 요구되는 제안요구서를 찾아 줘</a:t>
            </a:r>
            <a:endParaRPr b="0" i="0" sz="1050" u="none" cap="none" strike="noStrike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5" name="Google Shape;315;p34"/>
          <p:cNvSpPr txBox="1"/>
          <p:nvPr/>
        </p:nvSpPr>
        <p:spPr>
          <a:xfrm>
            <a:off x="82040" y="3968378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평가 질의(7개)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5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3.4.1. 옵션 평가 </a:t>
            </a:r>
            <a:r>
              <a:rPr lang="en-US" sz="1000">
                <a:solidFill>
                  <a:schemeClr val="lt1"/>
                </a:solidFill>
              </a:rPr>
              <a:t>&lt; 3.4.평가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2" name="Google Shape;3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2125" y="2126000"/>
            <a:ext cx="9601200" cy="2434107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35"/>
          <p:cNvSpPr txBox="1"/>
          <p:nvPr/>
        </p:nvSpPr>
        <p:spPr>
          <a:xfrm>
            <a:off x="82776" y="790512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평가 방법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5"/>
          <p:cNvSpPr txBox="1"/>
          <p:nvPr/>
        </p:nvSpPr>
        <p:spPr>
          <a:xfrm>
            <a:off x="242125" y="1125259"/>
            <a:ext cx="6452400" cy="5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poenai/ollama에서 retriever(retriever=hybrid_llm)/reranker(bge)로 고정하고 </a:t>
            </a:r>
            <a:endParaRPr b="0" i="0" sz="1000" u="none" cap="none" strike="noStrike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temperature/repetition_penalty/chunk_size/chunk_overlap/k 평가.</a:t>
            </a:r>
            <a:endParaRPr b="0" i="0" sz="1000" u="none" cap="none" strike="noStrike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25" name="Google Shape;325;p35"/>
          <p:cNvGraphicFramePr/>
          <p:nvPr/>
        </p:nvGraphicFramePr>
        <p:xfrm>
          <a:off x="224625" y="5093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023750"/>
                <a:gridCol w="1992175"/>
                <a:gridCol w="1577150"/>
                <a:gridCol w="1982950"/>
                <a:gridCol w="1761600"/>
                <a:gridCol w="1263550"/>
              </a:tblGrid>
              <a:tr h="7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모델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temperature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repetition_penalty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chunk_size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chunk_overlap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k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12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gpt-5-min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0.0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 (완전한 사실 기반, 0.1보다 더 엄격)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1.1 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(정확성 강조)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400 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(300보다 늘려 의미 단절 방지)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40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(청크 연결성 확보)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4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(상위 4개 문서만 활용)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8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exaone3.5:7.8b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0.2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(문장 흐름을 위한 약간의 유연성)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1.05 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(한국어 문장 딱딱함 방지)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1000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(1200보다 줄여 컨텍스트 최적화)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150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(충분한 오버랩으로 문맥 유지)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13 </a:t>
                      </a:r>
                      <a:endParaRPr sz="1000" u="none" cap="none" strike="noStrike"/>
                    </a:p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(풍부한 정보량 제공)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26" name="Google Shape;326;p35"/>
          <p:cNvSpPr txBox="1"/>
          <p:nvPr/>
        </p:nvSpPr>
        <p:spPr>
          <a:xfrm>
            <a:off x="82776" y="1835238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평가 결과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5"/>
          <p:cNvSpPr txBox="1"/>
          <p:nvPr/>
        </p:nvSpPr>
        <p:spPr>
          <a:xfrm>
            <a:off x="82776" y="4644446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옵션 지수 결정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5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6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3.4.2. retriever/reranker 평가 </a:t>
            </a:r>
            <a:r>
              <a:rPr lang="en-US" sz="1000">
                <a:solidFill>
                  <a:schemeClr val="lt1"/>
                </a:solidFill>
              </a:rPr>
              <a:t>&lt; 3.4.평가 &lt; 3.개발 경과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35" name="Google Shape;335;p36"/>
          <p:cNvGraphicFramePr/>
          <p:nvPr/>
        </p:nvGraphicFramePr>
        <p:xfrm>
          <a:off x="181099" y="1219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1023750"/>
                <a:gridCol w="1992175"/>
                <a:gridCol w="1577150"/>
                <a:gridCol w="1982950"/>
                <a:gridCol w="1761600"/>
                <a:gridCol w="1263550"/>
              </a:tblGrid>
              <a:tr h="733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모델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temperature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repetition_penalty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chunk_size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chunk_overlap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k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73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gpt-5-min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0.0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1.1 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400 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40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4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1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exaone3.5:7.8b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0.2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1.05 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1000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150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13 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36" name="Google Shape;336;p36"/>
          <p:cNvSpPr txBox="1"/>
          <p:nvPr/>
        </p:nvSpPr>
        <p:spPr>
          <a:xfrm>
            <a:off x="122026" y="770446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▣ 아래 옵션으로 테스트 했을 경우에 top3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6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id="338" name="Google Shape;33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2042100"/>
            <a:ext cx="6489922" cy="4250811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36"/>
          <p:cNvSpPr txBox="1"/>
          <p:nvPr/>
        </p:nvSpPr>
        <p:spPr>
          <a:xfrm>
            <a:off x="732575" y="2632300"/>
            <a:ext cx="594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6"/>
          <p:cNvSpPr txBox="1"/>
          <p:nvPr/>
        </p:nvSpPr>
        <p:spPr>
          <a:xfrm>
            <a:off x="7622950" y="2270425"/>
            <a:ext cx="829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41" name="Google Shape;341;p36"/>
          <p:cNvGraphicFramePr/>
          <p:nvPr/>
        </p:nvGraphicFramePr>
        <p:xfrm>
          <a:off x="6642325" y="2302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{B182B383-68EF-4D6B-ACC3-612C13BCABF2}</a:tableStyleId>
              </a:tblPr>
              <a:tblGrid>
                <a:gridCol w="943600"/>
                <a:gridCol w="1283000"/>
                <a:gridCol w="798550"/>
              </a:tblGrid>
              <a:tr h="733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color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retriever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US" sz="1000" u="none" cap="none" strike="noStrike"/>
                        <a:t>reranker</a:t>
                      </a:r>
                      <a:endParaRPr b="1" sz="1000" u="none" cap="none" strike="noStrike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  <a:tr h="73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hybrid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llm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1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vector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hybrid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251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bm25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hybrid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1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vector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bge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251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llm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llm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1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bm25_lm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hybrid</a:t>
                      </a:r>
                      <a:endParaRPr sz="1000" u="none" cap="none" strike="noStrike"/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342" name="Google Shape;34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18325" y="2528500"/>
            <a:ext cx="628650" cy="16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18325" y="2764400"/>
            <a:ext cx="628650" cy="16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37375" y="3034000"/>
            <a:ext cx="628650" cy="16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37375" y="3268345"/>
            <a:ext cx="628650" cy="16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839900" y="3536400"/>
            <a:ext cx="628650" cy="16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3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837375" y="3755375"/>
            <a:ext cx="628650" cy="16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7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4. 시연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7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pic>
        <p:nvPicPr>
          <p:cNvPr id="355" name="Google Shape;35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795300"/>
            <a:ext cx="5040126" cy="336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5625" y="3627199"/>
            <a:ext cx="4598651" cy="22098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8"/>
          <p:cNvSpPr txBox="1"/>
          <p:nvPr>
            <p:ph idx="4294967295" type="title"/>
          </p:nvPr>
        </p:nvSpPr>
        <p:spPr>
          <a:xfrm>
            <a:off x="180975" y="0"/>
            <a:ext cx="89154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lt1"/>
                </a:solidFill>
              </a:rPr>
              <a:t>5. 회고 및 향후 과제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38"/>
          <p:cNvSpPr txBox="1"/>
          <p:nvPr>
            <p:ph idx="12" type="sldNum"/>
          </p:nvPr>
        </p:nvSpPr>
        <p:spPr>
          <a:xfrm>
            <a:off x="4408250" y="6445310"/>
            <a:ext cx="5943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6650" lIns="106650" spcFirstLastPara="1" rIns="106650" wrap="square" tIns="106650">
            <a:normAutofit fontScale="85000" lnSpcReduction="2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</a:endParaRPr>
          </a:p>
        </p:txBody>
      </p:sp>
      <p:sp>
        <p:nvSpPr>
          <p:cNvPr id="364" name="Google Shape;364;p38"/>
          <p:cNvSpPr txBox="1"/>
          <p:nvPr/>
        </p:nvSpPr>
        <p:spPr>
          <a:xfrm>
            <a:off x="277475" y="855275"/>
            <a:ext cx="5770200" cy="12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회고</a:t>
            </a:r>
            <a:endParaRPr b="1" i="1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</a:t>
            </a:r>
            <a:r>
              <a:rPr b="0" i="0" lang="en-US" sz="1000" u="none" cap="none" strike="noStrike">
                <a:solidFill>
                  <a:srgbClr val="1F1F1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실무에서도 바로 사용 가능한 시스템을 만드는 것을 목표로 구현.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인터넷서비스(openai), cloud,local 사용의 전환이 용이. 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Model에 추상화 계층을 두어서 같은 인터페이스로 사용가능하도록 함.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주요 기능을 모듈화 해서 추후에 확장이 가능 함.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정형/비정형 데이터의 복합 검색을 통해서 RFP의 정확도를 높임.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5" name="Google Shape;365;p38"/>
          <p:cNvSpPr txBox="1"/>
          <p:nvPr/>
        </p:nvSpPr>
        <p:spPr>
          <a:xfrm>
            <a:off x="293274" y="2319700"/>
            <a:ext cx="7410000" cy="146992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향후 과제</a:t>
            </a:r>
            <a:endParaRPr b="1" i="1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점진적인 vector update 방안 필요.(파일 하나 추가할때마다, meta정보/domain/keyword/vector 자동 Update필요)</a:t>
            </a:r>
            <a:endParaRPr b="1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SQLite Filter를 통해서 나온 결과와 정확성에 대한 정량적 평가 필요.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테스트를  SQLite를 모두 사용하는 것으로 점수를 산정 했으나, 사용/미사용으로 테스트가 필요.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리포트 형태의 초안을 만드는 워크플로우 필요.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한글 파일의 분석 자동화.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▪ 응답의 가시성 올리는 방안.</a:t>
            </a:r>
            <a:endParaRPr b="0" i="0" sz="1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